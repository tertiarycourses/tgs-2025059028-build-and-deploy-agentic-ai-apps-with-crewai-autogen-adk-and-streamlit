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Rectangle 5"/>
          <p:cNvSpPr/>
          <p:nvPr/>
        </p:nvSpPr>
        <p:spPr>
          <a:xfrm>
            <a:off x="9921240" y="658368"/>
            <a:ext cx="155448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21240" y="768096"/>
            <a:ext cx="1554480" cy="457200"/>
          </a:xfrm>
          <a:prstGeom prst="rect">
            <a:avLst/>
          </a:prstGeom>
          <a:noFill/>
        </p:spPr>
        <p:txBody>
          <a:bodyPr wrap="square" anchor="t">
            <a:spAutoFit/>
          </a:bodyPr>
          <a:lstStyle/>
          <a:p>
            <a:pPr algn="ctr">
              <a:spcAft>
                <a:spcPts val="400"/>
              </a:spcAft>
            </a:pPr>
            <a:r>
              <a:rPr sz="1500" b="1">
                <a:solidFill>
                  <a:srgbClr val="FFFFFF"/>
                </a:solidFill>
                <a:latin typeface="Arial"/>
              </a:rPr>
              <a:t>AGENTIC AI</a:t>
            </a:r>
          </a:p>
        </p:txBody>
      </p:sp>
      <p:sp>
        <p:nvSpPr>
          <p:cNvPr id="8" name="TextBox 7"/>
          <p:cNvSpPr txBox="1"/>
          <p:nvPr/>
        </p:nvSpPr>
        <p:spPr>
          <a:xfrm>
            <a:off x="9921240" y="1207008"/>
            <a:ext cx="1554480" cy="365760"/>
          </a:xfrm>
          <a:prstGeom prst="rect">
            <a:avLst/>
          </a:prstGeom>
          <a:noFill/>
        </p:spPr>
        <p:txBody>
          <a:bodyPr wrap="square" anchor="t">
            <a:spAutoFit/>
          </a:bodyPr>
          <a:lstStyle/>
          <a:p>
            <a:pPr algn="ctr">
              <a:spcAft>
                <a:spcPts val="400"/>
              </a:spcAft>
            </a:pPr>
            <a:r>
              <a:rPr sz="800" b="1">
                <a:solidFill>
                  <a:srgbClr val="FFFFFF"/>
                </a:solidFill>
                <a:latin typeface="Arial"/>
              </a:rPr>
              <a:t>BUILD &amp; DEPLOY</a:t>
            </a:r>
          </a:p>
        </p:txBody>
      </p:sp>
      <p:sp>
        <p:nvSpPr>
          <p:cNvPr id="9" name="TextBox 8"/>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10" name="TextBox 9"/>
          <p:cNvSpPr txBox="1"/>
          <p:nvPr/>
        </p:nvSpPr>
        <p:spPr>
          <a:xfrm>
            <a:off x="822960" y="2514600"/>
            <a:ext cx="8778240" cy="1828800"/>
          </a:xfrm>
          <a:prstGeom prst="rect">
            <a:avLst/>
          </a:prstGeom>
          <a:noFill/>
        </p:spPr>
        <p:txBody>
          <a:bodyPr wrap="square" anchor="t">
            <a:spAutoFit/>
          </a:bodyPr>
          <a:lstStyle/>
          <a:p>
            <a:pPr algn="l">
              <a:spcAft>
                <a:spcPts val="400"/>
              </a:spcAft>
            </a:pPr>
            <a:r>
              <a:rPr sz="3200" b="1">
                <a:solidFill>
                  <a:srgbClr val="161B26"/>
                </a:solidFill>
                <a:latin typeface="Arial"/>
              </a:rPr>
              <a:t>Build and Deploy Agentic AI Apps with CrewAI, Autogen, ADK and Streamlit</a:t>
            </a:r>
          </a:p>
        </p:txBody>
      </p:sp>
      <p:sp>
        <p:nvSpPr>
          <p:cNvPr id="11" name="Rectangle 10"/>
          <p:cNvSpPr/>
          <p:nvPr/>
        </p:nvSpPr>
        <p:spPr>
          <a:xfrm>
            <a:off x="841248" y="406908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389120"/>
            <a:ext cx="10972800" cy="137160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TGS-2025059028  ·  4-Day Hands-On Training</a:t>
            </a:r>
          </a:p>
          <a:p>
            <a:pPr algn="l">
              <a:spcAft>
                <a:spcPts val="600"/>
              </a:spcAft>
            </a:pPr>
            <a:r>
              <a:rPr sz="1400" b="0">
                <a:solidFill>
                  <a:srgbClr val="5B6372"/>
                </a:solidFill>
                <a:latin typeface="Arial"/>
              </a:rPr>
              <a:t>Skills Framework TSC: Generative AI Application Development and Deployment (ICT-INT-0047-1.1)</a:t>
            </a:r>
          </a:p>
          <a:p>
            <a:pPr algn="l">
              <a:spcAft>
                <a:spcPts val="600"/>
              </a:spcAft>
            </a:pPr>
            <a:r>
              <a:rPr sz="1400" b="0">
                <a:solidFill>
                  <a:srgbClr val="5B6372"/>
                </a:solidFill>
                <a:latin typeface="Arial"/>
              </a:rPr>
              <a:t>Conducted by Tertiary Infotech Academy Pte Ltd  ·  UEN 201200696W</a:t>
            </a:r>
          </a:p>
        </p:txBody>
      </p:sp>
      <p:sp>
        <p:nvSpPr>
          <p:cNvPr id="13" name="TextBox 12"/>
          <p:cNvSpPr txBox="1"/>
          <p:nvPr/>
        </p:nvSpPr>
        <p:spPr>
          <a:xfrm>
            <a:off x="822960" y="589788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v2  ·  11 August 2026</a:t>
            </a:r>
          </a:p>
        </p:txBody>
      </p:sp>
      <p:sp>
        <p:nvSpPr>
          <p:cNvPr id="14" name="TextBox 13"/>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9" name="TextBox 8"/>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Trainer displays the SSG digital attendance QR code</a:t>
            </a:r>
          </a:p>
        </p:txBody>
      </p:sp>
      <p:sp>
        <p:nvSpPr>
          <p:cNvPr id="12" name="TextBox 11"/>
          <p:cNvSpPr txBox="1"/>
          <p:nvPr/>
        </p:nvSpPr>
        <p:spPr>
          <a:xfrm>
            <a:off x="2618841"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Scan it with your mobile phone camera</a:t>
            </a:r>
          </a:p>
        </p:txBody>
      </p:sp>
      <p:sp>
        <p:nvSpPr>
          <p:cNvPr id="18" name="TextBox 17"/>
          <p:cNvSpPr txBox="1"/>
          <p:nvPr/>
        </p:nvSpPr>
        <p:spPr>
          <a:xfrm>
            <a:off x="4807914"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Submit your attendance — AM, PM and Assessment</a:t>
            </a:r>
          </a:p>
        </p:txBody>
      </p:sp>
      <p:sp>
        <p:nvSpPr>
          <p:cNvPr id="24" name="TextBox 23"/>
          <p:cNvSpPr txBox="1"/>
          <p:nvPr/>
        </p:nvSpPr>
        <p:spPr>
          <a:xfrm>
            <a:off x="6996987"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Repeat every session, every day</a:t>
            </a:r>
          </a:p>
        </p:txBody>
      </p:sp>
      <p:sp>
        <p:nvSpPr>
          <p:cNvPr id="30" name="TextBox 29"/>
          <p:cNvSpPr txBox="1"/>
          <p:nvPr/>
        </p:nvSpPr>
        <p:spPr>
          <a:xfrm>
            <a:off x="9186060"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75% attendance minimum for assessment and funding</a:t>
            </a:r>
          </a:p>
        </p:txBody>
      </p:sp>
      <p:sp>
        <p:nvSpPr>
          <p:cNvPr id="36" name="TextBox 35"/>
          <p:cNvSpPr txBox="1"/>
          <p:nvPr/>
        </p:nvSpPr>
        <p:spPr>
          <a:xfrm>
            <a:off x="777240" y="5440680"/>
            <a:ext cx="10698480" cy="640080"/>
          </a:xfrm>
          <a:prstGeom prst="rect">
            <a:avLst/>
          </a:prstGeom>
          <a:noFill/>
        </p:spPr>
        <p:txBody>
          <a:bodyPr wrap="square" anchor="t">
            <a:spAutoFit/>
          </a:bodyPr>
          <a:lstStyle/>
          <a:p>
            <a:pPr algn="ctr">
              <a:spcAft>
                <a:spcPts val="400"/>
              </a:spcAft>
            </a:pPr>
            <a:r>
              <a:rPr sz="1400" b="0">
                <a:solidFill>
                  <a:srgbClr val="5B6372"/>
                </a:solidFill>
                <a:latin typeface="Arial"/>
              </a:rPr>
              <a:t>Digital attendance is mandatory for WSQ-funded courses — missing a scan puts your funding at risk.</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2" name="TextBox 31"/>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BACKGROUND</a:t>
            </a:r>
          </a:p>
          <a:p>
            <a:pPr algn="l">
              <a:spcAft>
                <a:spcPts val="300"/>
              </a:spcAft>
            </a:pPr>
            <a:r>
              <a:rPr sz="1400" b="0">
                <a:solidFill>
                  <a:srgbClr val="161B26"/>
                </a:solidFill>
                <a:latin typeface="Arial"/>
              </a:rPr>
              <a:t>PhD — 20+ years of industry and training experience in software engineering, data science and applied AI.</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161B26"/>
                </a:solidFill>
                <a:latin typeface="Arial"/>
              </a:rPr>
              <a:t>WSQ courses on Generative AI, Agentic AI, RAG, machine learning and full-stack application development.</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5" name="TextBox 24"/>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6" name="TextBox 25"/>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1115568"/>
          </a:xfrm>
          <a:prstGeom prst="rect">
            <a:avLst/>
          </a:prstGeom>
          <a:noFill/>
        </p:spPr>
        <p:txBody>
          <a:bodyPr wrap="square" anchor="ctr">
            <a:spAutoFit/>
          </a:bodyPr>
          <a:lstStyle/>
          <a:p>
            <a:pPr algn="l">
              <a:spcAft>
                <a:spcPts val="300"/>
              </a:spcAft>
            </a:pPr>
            <a:r>
              <a:rPr sz="1700" b="1">
                <a:solidFill>
                  <a:srgbClr val="161B26"/>
                </a:solidFill>
                <a:latin typeface="Arial"/>
              </a:rPr>
              <a:t>Who you are</a:t>
            </a:r>
          </a:p>
          <a:p>
            <a:pPr algn="l">
              <a:spcAft>
                <a:spcPts val="300"/>
              </a:spcAft>
            </a:pPr>
            <a:r>
              <a:rPr sz="1300" b="0">
                <a:solidFill>
                  <a:srgbClr val="5B6372"/>
                </a:solidFill>
                <a:latin typeface="Arial"/>
              </a:rPr>
              <a:t>Your name, your organisation and your role.</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447288"/>
            <a:ext cx="9427464" cy="1115568"/>
          </a:xfrm>
          <a:prstGeom prst="rect">
            <a:avLst/>
          </a:prstGeom>
          <a:noFill/>
        </p:spPr>
        <p:txBody>
          <a:bodyPr wrap="square" anchor="ctr">
            <a:spAutoFit/>
          </a:bodyPr>
          <a:lstStyle/>
          <a:p>
            <a:pPr algn="l">
              <a:spcAft>
                <a:spcPts val="300"/>
              </a:spcAft>
            </a:pPr>
            <a:r>
              <a:rPr sz="1700" b="1">
                <a:solidFill>
                  <a:srgbClr val="161B26"/>
                </a:solidFill>
                <a:latin typeface="Arial"/>
              </a:rPr>
              <a:t>What you've built</a:t>
            </a:r>
          </a:p>
          <a:p>
            <a:pPr algn="l">
              <a:spcAft>
                <a:spcPts val="300"/>
              </a:spcAft>
            </a:pPr>
            <a:r>
              <a:rPr sz="1300" b="0">
                <a:solidFill>
                  <a:srgbClr val="5B6372"/>
                </a:solidFill>
                <a:latin typeface="Arial"/>
              </a:rPr>
              <a:t>Your experience with Python, LLM APIs or chatbots — beginners welcome.</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983480"/>
            <a:ext cx="9427464" cy="1115568"/>
          </a:xfrm>
          <a:prstGeom prst="rect">
            <a:avLst/>
          </a:prstGeom>
          <a:noFill/>
        </p:spPr>
        <p:txBody>
          <a:bodyPr wrap="square" anchor="ctr">
            <a:spAutoFit/>
          </a:bodyPr>
          <a:lstStyle/>
          <a:p>
            <a:pPr algn="l">
              <a:spcAft>
                <a:spcPts val="300"/>
              </a:spcAft>
            </a:pPr>
            <a:r>
              <a:rPr sz="1700" b="1">
                <a:solidFill>
                  <a:srgbClr val="161B26"/>
                </a:solidFill>
                <a:latin typeface="Arial"/>
              </a:rPr>
              <a:t>What you want</a:t>
            </a:r>
          </a:p>
          <a:p>
            <a:pPr algn="l">
              <a:spcAft>
                <a:spcPts val="300"/>
              </a:spcAft>
            </a:pPr>
            <a:r>
              <a:rPr sz="1300" b="0">
                <a:solidFill>
                  <a:srgbClr val="5B6372"/>
                </a:solidFill>
                <a:latin typeface="Arial"/>
              </a:rPr>
              <a:t>One task at your workplace you would like an AI agent to take over.</a:t>
            </a:r>
          </a:p>
        </p:txBody>
      </p:sp>
      <p:sp>
        <p:nvSpPr>
          <p:cNvPr id="22" name="TextBox 2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3" name="TextBox 2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 · LMS/TMS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Download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577840" cy="41605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5577840" cy="475488"/>
          </a:xfrm>
          <a:prstGeom prst="rect">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41832" y="1984248"/>
            <a:ext cx="164592" cy="164592"/>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97864" y="1984248"/>
            <a:ext cx="164592" cy="16459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53896" y="1984248"/>
            <a:ext cx="164592" cy="16459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74520" y="1920240"/>
            <a:ext cx="4206240" cy="31089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11680" y="1920240"/>
            <a:ext cx="3931920" cy="310896"/>
          </a:xfrm>
          <a:prstGeom prst="rect">
            <a:avLst/>
          </a:prstGeom>
          <a:noFill/>
        </p:spPr>
        <p:txBody>
          <a:bodyPr wrap="square" anchor="ctr">
            <a:spAutoFit/>
          </a:bodyPr>
          <a:lstStyle/>
          <a:p>
            <a:pPr algn="l">
              <a:spcAft>
                <a:spcPts val="400"/>
              </a:spcAft>
            </a:pPr>
            <a:r>
              <a:rPr sz="1300" b="1">
                <a:solidFill>
                  <a:srgbClr val="1F6FEB"/>
                </a:solidFill>
                <a:latin typeface="Arial"/>
              </a:rPr>
              <a:t>https://lms-tms.tertiaryinfotech.com</a:t>
            </a:r>
          </a:p>
        </p:txBody>
      </p:sp>
      <p:sp>
        <p:nvSpPr>
          <p:cNvPr id="14" name="Rectangle 13"/>
          <p:cNvSpPr/>
          <p:nvPr/>
        </p:nvSpPr>
        <p:spPr>
          <a:xfrm>
            <a:off x="1005840" y="2514600"/>
            <a:ext cx="5120640" cy="685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8720" y="2514600"/>
            <a:ext cx="4754880" cy="685800"/>
          </a:xfrm>
          <a:prstGeom prst="rect">
            <a:avLst/>
          </a:prstGeom>
          <a:noFill/>
        </p:spPr>
        <p:txBody>
          <a:bodyPr wrap="square" anchor="ctr">
            <a:spAutoFit/>
          </a:bodyPr>
          <a:lstStyle/>
          <a:p>
            <a:pPr algn="l">
              <a:spcAft>
                <a:spcPts val="200"/>
              </a:spcAft>
            </a:pPr>
            <a:r>
              <a:rPr sz="1500" b="1">
                <a:solidFill>
                  <a:srgbClr val="FFFFFF"/>
                </a:solidFill>
                <a:latin typeface="Arial"/>
              </a:rPr>
              <a:t>Tertiary Infotech LMS/TMS</a:t>
            </a:r>
          </a:p>
          <a:p>
            <a:pPr algn="l">
              <a:spcAft>
                <a:spcPts val="200"/>
              </a:spcAft>
            </a:pPr>
            <a:r>
              <a:rPr sz="1100" b="0">
                <a:solidFill>
                  <a:srgbClr val="B3D4FF"/>
                </a:solidFill>
                <a:latin typeface="Arial"/>
              </a:rPr>
              <a:t>My Courses  ·  Attendance  ·  Assessment</a:t>
            </a:r>
          </a:p>
        </p:txBody>
      </p:sp>
      <p:sp>
        <p:nvSpPr>
          <p:cNvPr id="16" name="Rectangle 15"/>
          <p:cNvSpPr/>
          <p:nvPr/>
        </p:nvSpPr>
        <p:spPr>
          <a:xfrm>
            <a:off x="1005840" y="3364992"/>
            <a:ext cx="5120640" cy="512064"/>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88720" y="3364992"/>
            <a:ext cx="4754880" cy="512064"/>
          </a:xfrm>
          <a:prstGeom prst="rect">
            <a:avLst/>
          </a:prstGeom>
          <a:noFill/>
        </p:spPr>
        <p:txBody>
          <a:bodyPr wrap="square" anchor="ctr">
            <a:spAutoFit/>
          </a:bodyPr>
          <a:lstStyle/>
          <a:p>
            <a:pPr algn="l">
              <a:spcAft>
                <a:spcPts val="400"/>
              </a:spcAft>
            </a:pPr>
            <a:r>
              <a:rPr sz="1250" b="1">
                <a:solidFill>
                  <a:srgbClr val="1F6FEB"/>
                </a:solidFill>
                <a:latin typeface="Arial"/>
              </a:rPr>
              <a:t>Build and Deploy Agentic AI Apps</a:t>
            </a:r>
          </a:p>
        </p:txBody>
      </p:sp>
      <p:sp>
        <p:nvSpPr>
          <p:cNvPr id="18" name="Rectangle 17"/>
          <p:cNvSpPr/>
          <p:nvPr/>
        </p:nvSpPr>
        <p:spPr>
          <a:xfrm>
            <a:off x="1005840" y="3986784"/>
            <a:ext cx="5120640" cy="512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88720" y="3986784"/>
            <a:ext cx="4754880" cy="512064"/>
          </a:xfrm>
          <a:prstGeom prst="rect">
            <a:avLst/>
          </a:prstGeom>
          <a:noFill/>
        </p:spPr>
        <p:txBody>
          <a:bodyPr wrap="square" anchor="ctr">
            <a:spAutoFit/>
          </a:bodyPr>
          <a:lstStyle/>
          <a:p>
            <a:pPr algn="l">
              <a:spcAft>
                <a:spcPts val="400"/>
              </a:spcAft>
            </a:pPr>
            <a:r>
              <a:rPr sz="1250" b="0">
                <a:solidFill>
                  <a:srgbClr val="161B26"/>
                </a:solidFill>
                <a:latin typeface="Arial"/>
              </a:rPr>
              <a:t>Trainer Slides (PDF)  ⬇</a:t>
            </a:r>
          </a:p>
        </p:txBody>
      </p:sp>
      <p:sp>
        <p:nvSpPr>
          <p:cNvPr id="20" name="Rectangle 19"/>
          <p:cNvSpPr/>
          <p:nvPr/>
        </p:nvSpPr>
        <p:spPr>
          <a:xfrm>
            <a:off x="1005840" y="4608576"/>
            <a:ext cx="5120640" cy="512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88720" y="4608576"/>
            <a:ext cx="4754880" cy="512064"/>
          </a:xfrm>
          <a:prstGeom prst="rect">
            <a:avLst/>
          </a:prstGeom>
          <a:noFill/>
        </p:spPr>
        <p:txBody>
          <a:bodyPr wrap="square" anchor="ctr">
            <a:spAutoFit/>
          </a:bodyPr>
          <a:lstStyle/>
          <a:p>
            <a:pPr algn="l">
              <a:spcAft>
                <a:spcPts val="400"/>
              </a:spcAft>
            </a:pPr>
            <a:r>
              <a:rPr sz="1250" b="0">
                <a:solidFill>
                  <a:srgbClr val="161B26"/>
                </a:solidFill>
                <a:latin typeface="Arial"/>
              </a:rPr>
              <a:t>Learner Guide (PDF)  ⬇</a:t>
            </a:r>
          </a:p>
        </p:txBody>
      </p:sp>
      <p:sp>
        <p:nvSpPr>
          <p:cNvPr id="22" name="Rectangle 21"/>
          <p:cNvSpPr/>
          <p:nvPr/>
        </p:nvSpPr>
        <p:spPr>
          <a:xfrm>
            <a:off x="1005840" y="5230368"/>
            <a:ext cx="5120640" cy="512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8720" y="5230368"/>
            <a:ext cx="4754880" cy="512064"/>
          </a:xfrm>
          <a:prstGeom prst="rect">
            <a:avLst/>
          </a:prstGeom>
          <a:noFill/>
        </p:spPr>
        <p:txBody>
          <a:bodyPr wrap="square" anchor="ctr">
            <a:spAutoFit/>
          </a:bodyPr>
          <a:lstStyle/>
          <a:p>
            <a:pPr algn="l">
              <a:spcAft>
                <a:spcPts val="400"/>
              </a:spcAft>
            </a:pPr>
            <a:r>
              <a:rPr sz="1250" b="0">
                <a:solidFill>
                  <a:srgbClr val="161B26"/>
                </a:solidFill>
                <a:latin typeface="Arial"/>
              </a:rPr>
              <a:t>Assessment Submission  ↗</a:t>
            </a:r>
          </a:p>
        </p:txBody>
      </p:sp>
      <p:sp>
        <p:nvSpPr>
          <p:cNvPr id="24" name="Rectangle 23"/>
          <p:cNvSpPr/>
          <p:nvPr/>
        </p:nvSpPr>
        <p:spPr>
          <a:xfrm>
            <a:off x="6675120" y="1828800"/>
            <a:ext cx="4754880" cy="9029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675120" y="1828800"/>
            <a:ext cx="82296" cy="90297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858000" y="205168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0" y="2051685"/>
            <a:ext cx="457200" cy="457200"/>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28" name="TextBox 27"/>
          <p:cNvSpPr txBox="1"/>
          <p:nvPr/>
        </p:nvSpPr>
        <p:spPr>
          <a:xfrm>
            <a:off x="7498080" y="1828800"/>
            <a:ext cx="3749040" cy="902970"/>
          </a:xfrm>
          <a:prstGeom prst="rect">
            <a:avLst/>
          </a:prstGeom>
          <a:noFill/>
        </p:spPr>
        <p:txBody>
          <a:bodyPr wrap="square" anchor="ctr">
            <a:spAutoFit/>
          </a:bodyPr>
          <a:lstStyle/>
          <a:p>
            <a:pPr algn="l">
              <a:spcAft>
                <a:spcPts val="200"/>
              </a:spcAft>
            </a:pPr>
            <a:r>
              <a:rPr sz="1400" b="1">
                <a:solidFill>
                  <a:srgbClr val="1F6FEB"/>
                </a:solidFill>
                <a:latin typeface="Arial"/>
              </a:rPr>
              <a:t>Sign in</a:t>
            </a:r>
          </a:p>
          <a:p>
            <a:pPr algn="l">
              <a:spcAft>
                <a:spcPts val="200"/>
              </a:spcAft>
            </a:pPr>
            <a:r>
              <a:rPr sz="1150" b="0">
                <a:solidFill>
                  <a:srgbClr val="161B26"/>
                </a:solidFill>
                <a:latin typeface="Arial"/>
              </a:rPr>
              <a:t>lms-tms.tertiaryinfotech.com — log in with your registered email (OTP or password).</a:t>
            </a:r>
          </a:p>
        </p:txBody>
      </p:sp>
      <p:sp>
        <p:nvSpPr>
          <p:cNvPr id="29" name="Rectangle 28"/>
          <p:cNvSpPr/>
          <p:nvPr/>
        </p:nvSpPr>
        <p:spPr>
          <a:xfrm>
            <a:off x="6675120" y="2914650"/>
            <a:ext cx="4754880" cy="9029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75120" y="2914650"/>
            <a:ext cx="82296" cy="90297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858000" y="3137535"/>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0" y="3137535"/>
            <a:ext cx="457200" cy="457200"/>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33" name="TextBox 32"/>
          <p:cNvSpPr txBox="1"/>
          <p:nvPr/>
        </p:nvSpPr>
        <p:spPr>
          <a:xfrm>
            <a:off x="7498080" y="2914650"/>
            <a:ext cx="3749040" cy="902970"/>
          </a:xfrm>
          <a:prstGeom prst="rect">
            <a:avLst/>
          </a:prstGeom>
          <a:noFill/>
        </p:spPr>
        <p:txBody>
          <a:bodyPr wrap="square" anchor="ctr">
            <a:spAutoFit/>
          </a:bodyPr>
          <a:lstStyle/>
          <a:p>
            <a:pPr algn="l">
              <a:spcAft>
                <a:spcPts val="200"/>
              </a:spcAft>
            </a:pPr>
            <a:r>
              <a:rPr sz="1400" b="1">
                <a:solidFill>
                  <a:srgbClr val="10B981"/>
                </a:solidFill>
                <a:latin typeface="Arial"/>
              </a:rPr>
              <a:t>Open your course</a:t>
            </a:r>
          </a:p>
          <a:p>
            <a:pPr algn="l">
              <a:spcAft>
                <a:spcPts val="200"/>
              </a:spcAft>
            </a:pPr>
            <a:r>
              <a:rPr sz="1150" b="0">
                <a:solidFill>
                  <a:srgbClr val="161B26"/>
                </a:solidFill>
                <a:latin typeface="Arial"/>
              </a:rPr>
              <a:t>Select 'Build and Deploy Agentic AI Apps with CrewAI, Autogen, ADK and Streamlit' under My Courses.</a:t>
            </a:r>
          </a:p>
        </p:txBody>
      </p:sp>
      <p:sp>
        <p:nvSpPr>
          <p:cNvPr id="34" name="Rectangle 33"/>
          <p:cNvSpPr/>
          <p:nvPr/>
        </p:nvSpPr>
        <p:spPr>
          <a:xfrm>
            <a:off x="6675120" y="4000500"/>
            <a:ext cx="4754880" cy="9029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675120" y="4000500"/>
            <a:ext cx="82296" cy="90297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858000" y="4223385"/>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0" y="4223385"/>
            <a:ext cx="457200" cy="457200"/>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8" name="TextBox 37"/>
          <p:cNvSpPr txBox="1"/>
          <p:nvPr/>
        </p:nvSpPr>
        <p:spPr>
          <a:xfrm>
            <a:off x="7498080" y="4000500"/>
            <a:ext cx="3749040" cy="902970"/>
          </a:xfrm>
          <a:prstGeom prst="rect">
            <a:avLst/>
          </a:prstGeom>
          <a:noFill/>
        </p:spPr>
        <p:txBody>
          <a:bodyPr wrap="square" anchor="ctr">
            <a:spAutoFit/>
          </a:bodyPr>
          <a:lstStyle/>
          <a:p>
            <a:pPr algn="l">
              <a:spcAft>
                <a:spcPts val="200"/>
              </a:spcAft>
            </a:pPr>
            <a:r>
              <a:rPr sz="1400" b="1">
                <a:solidFill>
                  <a:srgbClr val="7C3AED"/>
                </a:solidFill>
                <a:latin typeface="Arial"/>
              </a:rPr>
              <a:t>Download materials</a:t>
            </a:r>
          </a:p>
          <a:p>
            <a:pPr algn="l">
              <a:spcAft>
                <a:spcPts val="200"/>
              </a:spcAft>
            </a:pPr>
            <a:r>
              <a:rPr sz="1150" b="0">
                <a:solidFill>
                  <a:srgbClr val="161B26"/>
                </a:solidFill>
                <a:latin typeface="Arial"/>
              </a:rPr>
              <a:t>Slides and the Learner Guide — your open-book references for the assessment.</a:t>
            </a:r>
          </a:p>
        </p:txBody>
      </p:sp>
      <p:sp>
        <p:nvSpPr>
          <p:cNvPr id="39" name="Rectangle 38"/>
          <p:cNvSpPr/>
          <p:nvPr/>
        </p:nvSpPr>
        <p:spPr>
          <a:xfrm>
            <a:off x="6675120" y="5086350"/>
            <a:ext cx="4754880" cy="9029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675120" y="5086350"/>
            <a:ext cx="82296" cy="90297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6858000" y="5309235"/>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858000" y="5309235"/>
            <a:ext cx="457200" cy="457200"/>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43" name="TextBox 42"/>
          <p:cNvSpPr txBox="1"/>
          <p:nvPr/>
        </p:nvSpPr>
        <p:spPr>
          <a:xfrm>
            <a:off x="7498080" y="5086350"/>
            <a:ext cx="3749040" cy="902970"/>
          </a:xfrm>
          <a:prstGeom prst="rect">
            <a:avLst/>
          </a:prstGeom>
          <a:noFill/>
        </p:spPr>
        <p:txBody>
          <a:bodyPr wrap="square" anchor="ctr">
            <a:spAutoFit/>
          </a:bodyPr>
          <a:lstStyle/>
          <a:p>
            <a:pPr algn="l">
              <a:spcAft>
                <a:spcPts val="200"/>
              </a:spcAft>
            </a:pPr>
            <a:r>
              <a:rPr sz="1400" b="1">
                <a:solidFill>
                  <a:srgbClr val="F59E0B"/>
                </a:solidFill>
                <a:latin typeface="Arial"/>
              </a:rPr>
              <a:t>Submit &amp; survey</a:t>
            </a:r>
          </a:p>
          <a:p>
            <a:pPr algn="l">
              <a:spcAft>
                <a:spcPts val="200"/>
              </a:spcAft>
            </a:pPr>
            <a:r>
              <a:rPr sz="1150" b="0">
                <a:solidFill>
                  <a:srgbClr val="161B26"/>
                </a:solidFill>
                <a:latin typeface="Arial"/>
              </a:rPr>
              <a:t>Upload your assessment answers and complete the TRAQOM survey QR here.</a:t>
            </a:r>
          </a:p>
        </p:txBody>
      </p:sp>
      <p:sp>
        <p:nvSpPr>
          <p:cNvPr id="44" name="TextBox 43"/>
          <p:cNvSpPr txBox="1"/>
          <p:nvPr/>
        </p:nvSpPr>
        <p:spPr>
          <a:xfrm>
            <a:off x="777240" y="6035040"/>
            <a:ext cx="10698480" cy="365760"/>
          </a:xfrm>
          <a:prstGeom prst="rect">
            <a:avLst/>
          </a:prstGeom>
          <a:noFill/>
        </p:spPr>
        <p:txBody>
          <a:bodyPr wrap="square" anchor="t">
            <a:spAutoFit/>
          </a:bodyPr>
          <a:lstStyle/>
          <a:p>
            <a:pPr algn="ctr">
              <a:spcAft>
                <a:spcPts val="400"/>
              </a:spcAft>
            </a:pPr>
            <a:r>
              <a:rPr sz="1300" b="0">
                <a:solidFill>
                  <a:srgbClr val="5B6372"/>
                </a:solidFill>
                <a:latin typeface="Arial"/>
              </a:rPr>
              <a:t>All course material is downloaded from the LMS/TMS portal — keep it handy: the final assessment is open book.</a:t>
            </a:r>
          </a:p>
        </p:txBody>
      </p:sp>
      <p:sp>
        <p:nvSpPr>
          <p:cNvPr id="45" name="TextBox 44"/>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6" name="TextBox 45"/>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7" name="TextBox 4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WHAT YOU'LL USE · ALL 20 ACTIVITIES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Your Development Toolkit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Python 3.11+ and a virtual environment</a:t>
            </a:r>
          </a:p>
          <a:p>
            <a:pPr algn="l">
              <a:spcAft>
                <a:spcPts val="300"/>
              </a:spcAft>
            </a:pPr>
            <a:r>
              <a:rPr sz="1100" b="0">
                <a:solidFill>
                  <a:srgbClr val="5B6372"/>
                </a:solidFill>
                <a:latin typeface="Arial"/>
              </a:rPr>
              <a:t>Every activity runs in an isolated .venv so dependencies never collide.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three agent frameworks</a:t>
            </a:r>
          </a:p>
          <a:p>
            <a:pPr algn="l">
              <a:spcAft>
                <a:spcPts val="300"/>
              </a:spcAft>
            </a:pPr>
            <a:r>
              <a:rPr sz="1100" b="0">
                <a:solidFill>
                  <a:srgbClr val="5B6372"/>
                </a:solidFill>
                <a:latin typeface="Arial"/>
              </a:rPr>
              <a:t>CrewAI, Microsoft AutoGen and the OpenAI Agents SDK / ADK — installed on Day 1.</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Streamlit</a:t>
            </a:r>
          </a:p>
          <a:p>
            <a:pPr algn="l">
              <a:spcAft>
                <a:spcPts val="300"/>
              </a:spcAft>
            </a:pPr>
            <a:r>
              <a:rPr sz="1100" b="0">
                <a:solidFill>
                  <a:srgbClr val="5B6372"/>
                </a:solidFill>
                <a:latin typeface="Arial"/>
              </a:rPr>
              <a:t>Turns a Python script into a shareable web app, then into a public cloud deployment.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ChromaDB + embeddings</a:t>
            </a:r>
          </a:p>
          <a:p>
            <a:pPr algn="l">
              <a:spcAft>
                <a:spcPts val="300"/>
              </a:spcAft>
            </a:pPr>
            <a:r>
              <a:rPr sz="1100" b="0">
                <a:solidFill>
                  <a:srgbClr val="5B6372"/>
                </a:solidFill>
                <a:latin typeface="Arial"/>
              </a:rPr>
              <a:t>The vector store behind the RAG applications you build in LU2.</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API keys in .env</a:t>
            </a:r>
          </a:p>
          <a:p>
            <a:pPr algn="l">
              <a:spcAft>
                <a:spcPts val="300"/>
              </a:spcAft>
            </a:pPr>
            <a:r>
              <a:rPr sz="1100" b="0">
                <a:solidFill>
                  <a:srgbClr val="5B6372"/>
                </a:solidFill>
                <a:latin typeface="Arial"/>
              </a:rPr>
              <a:t>OpenAI, Tavily and OpenRouter keys — kept out of source control from the very first activity.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An AI IDE</a:t>
            </a:r>
          </a:p>
          <a:p>
            <a:pPr algn="l">
              <a:spcAft>
                <a:spcPts val="300"/>
              </a:spcAft>
            </a:pPr>
            <a:r>
              <a:rPr sz="1100" b="0">
                <a:solidFill>
                  <a:srgbClr val="5B6372"/>
                </a:solidFill>
                <a:latin typeface="Arial"/>
              </a:rPr>
              <a:t>GitHub Copilot, Cursor, Trae or Windsurf to accelerate the code you write.</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Lesson Plan — 4 Days, 9:30am–6:30pm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Days 1–2 — build agents</a:t>
            </a:r>
          </a:p>
        </p:txBody>
      </p:sp>
      <p:sp>
        <p:nvSpPr>
          <p:cNvPr id="12" name="TextBox 11"/>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Days 3–4 — deploy &amp; safeguard</a:t>
            </a:r>
          </a:p>
        </p:txBody>
      </p:sp>
      <p:sp>
        <p:nvSpPr>
          <p:cNvPr id="13" name="TextBox 12"/>
          <p:cNvSpPr txBox="1"/>
          <p:nvPr/>
        </p:nvSpPr>
        <p:spPr>
          <a:xfrm>
            <a:off x="1005840" y="2468880"/>
            <a:ext cx="4754880" cy="2971800"/>
          </a:xfrm>
          <a:prstGeom prst="rect">
            <a:avLst/>
          </a:prstGeom>
          <a:noFill/>
        </p:spPr>
        <p:txBody>
          <a:bodyPr wrap="square">
            <a:spAutoFit/>
          </a:bodyPr>
          <a:lstStyle/>
          <a:p>
            <a:pPr>
              <a:spcAft>
                <a:spcPts val="1000"/>
              </a:spcAft>
            </a:pPr>
            <a:r>
              <a:rPr sz="1500" b="1">
                <a:solidFill>
                  <a:srgbClr val="161B26"/>
                </a:solidFill>
                <a:latin typeface="Arial"/>
              </a:rPr>
              <a:t>•  Day 1 — Agentic AI Foundations &amp; Your First Agent</a:t>
            </a:r>
          </a:p>
          <a:p>
            <a:pPr>
              <a:spcAft>
                <a:spcPts val="1000"/>
              </a:spcAft>
            </a:pPr>
            <a:r>
              <a:rPr sz="1300" b="0">
                <a:solidFill>
                  <a:srgbClr val="5B6372"/>
                </a:solidFill>
                <a:latin typeface="Arial"/>
              </a:rPr>
              <a:t>–  LU1: frameworks, agent anatomy · Activities 1–3</a:t>
            </a:r>
          </a:p>
          <a:p>
            <a:pPr>
              <a:spcAft>
                <a:spcPts val="1000"/>
              </a:spcAft>
            </a:pPr>
            <a:r>
              <a:rPr sz="1500" b="1">
                <a:solidFill>
                  <a:srgbClr val="161B26"/>
                </a:solidFill>
                <a:latin typeface="Arial"/>
              </a:rPr>
              <a:t>•  Day 2 — Multi-Agent Workflows &amp; AI-Assisted Development</a:t>
            </a:r>
          </a:p>
          <a:p>
            <a:pPr>
              <a:spcAft>
                <a:spcPts val="1000"/>
              </a:spcAft>
            </a:pPr>
            <a:r>
              <a:rPr sz="1300" b="0">
                <a:solidFill>
                  <a:srgbClr val="5B6372"/>
                </a:solidFill>
                <a:latin typeface="Arial"/>
              </a:rPr>
              <a:t>–  LU1: CrewAI, AutoGen, orchestration, AI IDEs · Activities 4–7</a:t>
            </a:r>
          </a:p>
          <a:p>
            <a:pPr>
              <a:spcAft>
                <a:spcPts val="1000"/>
              </a:spcAft>
            </a:pPr>
            <a:r>
              <a:rPr sz="1500" b="1">
                <a:solidFill>
                  <a:srgbClr val="161B26"/>
                </a:solidFill>
                <a:latin typeface="Arial"/>
              </a:rPr>
              <a:t>•  Daily timing</a:t>
            </a:r>
          </a:p>
          <a:p>
            <a:pPr>
              <a:spcAft>
                <a:spcPts val="1000"/>
              </a:spcAft>
            </a:pPr>
            <a:r>
              <a:rPr sz="1300" b="0">
                <a:solidFill>
                  <a:srgbClr val="5B6372"/>
                </a:solidFill>
                <a:latin typeface="Arial"/>
              </a:rPr>
              <a:t>–  9:30am–6:30pm · 1-hour lunch · tea breaks within</a:t>
            </a:r>
          </a:p>
        </p:txBody>
      </p:sp>
      <p:sp>
        <p:nvSpPr>
          <p:cNvPr id="14" name="TextBox 13"/>
          <p:cNvSpPr txBox="1"/>
          <p:nvPr/>
        </p:nvSpPr>
        <p:spPr>
          <a:xfrm>
            <a:off x="6583680" y="2468880"/>
            <a:ext cx="4617720" cy="2971800"/>
          </a:xfrm>
          <a:prstGeom prst="rect">
            <a:avLst/>
          </a:prstGeom>
          <a:noFill/>
        </p:spPr>
        <p:txBody>
          <a:bodyPr wrap="square">
            <a:spAutoFit/>
          </a:bodyPr>
          <a:lstStyle/>
          <a:p>
            <a:pPr>
              <a:spcAft>
                <a:spcPts val="1000"/>
              </a:spcAft>
            </a:pPr>
            <a:r>
              <a:rPr sz="1500" b="1">
                <a:solidFill>
                  <a:srgbClr val="161B26"/>
                </a:solidFill>
                <a:latin typeface="Arial"/>
              </a:rPr>
              <a:t>•  Day 3 — RAG, Context Augmentation &amp; Cloud Deployment</a:t>
            </a:r>
          </a:p>
          <a:p>
            <a:pPr>
              <a:spcAft>
                <a:spcPts val="1000"/>
              </a:spcAft>
            </a:pPr>
            <a:r>
              <a:rPr sz="1300" b="0">
                <a:solidFill>
                  <a:srgbClr val="5B6372"/>
                </a:solidFill>
                <a:latin typeface="Arial"/>
              </a:rPr>
              <a:t>–  LU2: RAG, knowledge graphs, cloud deployment · Activities 8–14</a:t>
            </a:r>
          </a:p>
          <a:p>
            <a:pPr>
              <a:spcAft>
                <a:spcPts val="1000"/>
              </a:spcAft>
            </a:pPr>
            <a:r>
              <a:rPr sz="1500" b="1">
                <a:solidFill>
                  <a:srgbClr val="161B26"/>
                </a:solidFill>
                <a:latin typeface="Arial"/>
              </a:rPr>
              <a:t>•  Day 4 — Guardrails, Model Alignment &amp; Assessment</a:t>
            </a:r>
          </a:p>
          <a:p>
            <a:pPr>
              <a:spcAft>
                <a:spcPts val="1000"/>
              </a:spcAft>
            </a:pPr>
            <a:r>
              <a:rPr sz="1300" b="0">
                <a:solidFill>
                  <a:srgbClr val="5B6372"/>
                </a:solidFill>
                <a:latin typeface="Arial"/>
              </a:rPr>
              <a:t>–  LU3: guardrails, alignment, production · Activities 15–20</a:t>
            </a:r>
          </a:p>
          <a:p>
            <a:pPr>
              <a:spcAft>
                <a:spcPts val="1000"/>
              </a:spcAft>
            </a:pPr>
            <a:r>
              <a:rPr sz="1500" b="1">
                <a:solidFill>
                  <a:srgbClr val="161B26"/>
                </a:solidFill>
                <a:latin typeface="Arial"/>
              </a:rPr>
              <a:t>•  Final Assessment (Day 4)</a:t>
            </a:r>
          </a:p>
          <a:p>
            <a:pPr>
              <a:spcAft>
                <a:spcPts val="1000"/>
              </a:spcAft>
            </a:pPr>
            <a:r>
              <a:rPr sz="1300" b="0">
                <a:solidFill>
                  <a:srgbClr val="5B6372"/>
                </a:solidFill>
                <a:latin typeface="Arial"/>
              </a:rPr>
              <a:t>–  WA (SAQ) 1 hour + PP (practical) 1 hour — open book</a:t>
            </a:r>
          </a:p>
        </p:txBody>
      </p:sp>
      <p:sp>
        <p:nvSpPr>
          <p:cNvPr id="15" name="TextBox 14"/>
          <p:cNvSpPr txBox="1"/>
          <p:nvPr/>
        </p:nvSpPr>
        <p:spPr>
          <a:xfrm>
            <a:off x="777240" y="5715000"/>
            <a:ext cx="10698480" cy="548640"/>
          </a:xfrm>
          <a:prstGeom prst="rect">
            <a:avLst/>
          </a:prstGeom>
          <a:noFill/>
        </p:spPr>
        <p:txBody>
          <a:bodyPr wrap="square" anchor="ctr">
            <a:spAutoFit/>
          </a:bodyPr>
          <a:lstStyle/>
          <a:p>
            <a:pPr algn="ctr">
              <a:spcAft>
                <a:spcPts val="400"/>
              </a:spcAft>
            </a:pPr>
            <a:r>
              <a:rPr sz="1300" b="0">
                <a:solidFill>
                  <a:srgbClr val="5B6372"/>
                </a:solidFill>
                <a:latin typeface="Arial"/>
              </a:rPr>
              <a:t>32 training hours across 4 days (8 hours per day) plus a 2-hour final assessment on Day 4.</a:t>
            </a:r>
          </a:p>
        </p:txBody>
      </p:sp>
      <p:sp>
        <p:nvSpPr>
          <p:cNvPr id="16" name="TextBox 15"/>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7" name="TextBox 16"/>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WSQ ALIGNMENT · ICT-INT-0047-1.1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Skills Framework Alignment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339583" cy="4251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120127" cy="425196"/>
          </a:xfrm>
          <a:prstGeom prst="rect">
            <a:avLst/>
          </a:prstGeom>
          <a:noFill/>
        </p:spPr>
        <p:txBody>
          <a:bodyPr wrap="square" anchor="ctr">
            <a:spAutoFit/>
          </a:bodyPr>
          <a:lstStyle/>
          <a:p>
            <a:pPr algn="l">
              <a:spcAft>
                <a:spcPts val="400"/>
              </a:spcAft>
            </a:pPr>
            <a:r>
              <a:rPr sz="1200" b="1">
                <a:solidFill>
                  <a:srgbClr val="FFFFFF"/>
                </a:solidFill>
                <a:latin typeface="Arial"/>
              </a:rPr>
              <a:t>TSC element</a:t>
            </a:r>
          </a:p>
        </p:txBody>
      </p:sp>
      <p:sp>
        <p:nvSpPr>
          <p:cNvPr id="9" name="Rectangle 8"/>
          <p:cNvSpPr/>
          <p:nvPr/>
        </p:nvSpPr>
        <p:spPr>
          <a:xfrm>
            <a:off x="3116823" y="1783080"/>
            <a:ext cx="8294888" cy="4251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4839" y="1783080"/>
            <a:ext cx="8075432" cy="425196"/>
          </a:xfrm>
          <a:prstGeom prst="rect">
            <a:avLst/>
          </a:prstGeom>
          <a:noFill/>
        </p:spPr>
        <p:txBody>
          <a:bodyPr wrap="square" anchor="ctr">
            <a:spAutoFit/>
          </a:bodyPr>
          <a:lstStyle/>
          <a:p>
            <a:pPr algn="l">
              <a:spcAft>
                <a:spcPts val="400"/>
              </a:spcAft>
            </a:pPr>
            <a:r>
              <a:rPr sz="1200" b="1">
                <a:solidFill>
                  <a:srgbClr val="FFFFFF"/>
                </a:solidFill>
                <a:latin typeface="Arial"/>
              </a:rPr>
              <a:t>Detail</a:t>
            </a:r>
          </a:p>
        </p:txBody>
      </p:sp>
      <p:sp>
        <p:nvSpPr>
          <p:cNvPr id="11" name="Rectangle 10"/>
          <p:cNvSpPr/>
          <p:nvPr/>
        </p:nvSpPr>
        <p:spPr>
          <a:xfrm>
            <a:off x="777240" y="2208276"/>
            <a:ext cx="2339583" cy="42519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08276"/>
            <a:ext cx="2120127" cy="425196"/>
          </a:xfrm>
          <a:prstGeom prst="rect">
            <a:avLst/>
          </a:prstGeom>
          <a:noFill/>
        </p:spPr>
        <p:txBody>
          <a:bodyPr wrap="square" anchor="ctr">
            <a:spAutoFit/>
          </a:bodyPr>
          <a:lstStyle/>
          <a:p>
            <a:pPr algn="l">
              <a:spcAft>
                <a:spcPts val="400"/>
              </a:spcAft>
            </a:pPr>
            <a:r>
              <a:rPr sz="1100" b="1">
                <a:solidFill>
                  <a:srgbClr val="161B26"/>
                </a:solidFill>
                <a:latin typeface="Arial"/>
              </a:rPr>
              <a:t>TSC Title</a:t>
            </a:r>
          </a:p>
        </p:txBody>
      </p:sp>
      <p:sp>
        <p:nvSpPr>
          <p:cNvPr id="13" name="Rectangle 12"/>
          <p:cNvSpPr/>
          <p:nvPr/>
        </p:nvSpPr>
        <p:spPr>
          <a:xfrm>
            <a:off x="3116823" y="2208276"/>
            <a:ext cx="8294888" cy="42519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4839" y="2208276"/>
            <a:ext cx="8075432" cy="425196"/>
          </a:xfrm>
          <a:prstGeom prst="rect">
            <a:avLst/>
          </a:prstGeom>
          <a:noFill/>
        </p:spPr>
        <p:txBody>
          <a:bodyPr wrap="square" anchor="ctr">
            <a:spAutoFit/>
          </a:bodyPr>
          <a:lstStyle/>
          <a:p>
            <a:pPr algn="l">
              <a:spcAft>
                <a:spcPts val="400"/>
              </a:spcAft>
            </a:pPr>
            <a:r>
              <a:rPr sz="1100" b="0">
                <a:solidFill>
                  <a:srgbClr val="161B26"/>
                </a:solidFill>
                <a:latin typeface="Arial"/>
              </a:rPr>
              <a:t>Generative AI Application Development and Deployment</a:t>
            </a:r>
          </a:p>
        </p:txBody>
      </p:sp>
      <p:sp>
        <p:nvSpPr>
          <p:cNvPr id="15" name="Rectangle 14"/>
          <p:cNvSpPr/>
          <p:nvPr/>
        </p:nvSpPr>
        <p:spPr>
          <a:xfrm>
            <a:off x="777240" y="2633472"/>
            <a:ext cx="2339583" cy="42519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633472"/>
            <a:ext cx="2120127" cy="425196"/>
          </a:xfrm>
          <a:prstGeom prst="rect">
            <a:avLst/>
          </a:prstGeom>
          <a:noFill/>
        </p:spPr>
        <p:txBody>
          <a:bodyPr wrap="square" anchor="ctr">
            <a:spAutoFit/>
          </a:bodyPr>
          <a:lstStyle/>
          <a:p>
            <a:pPr algn="l">
              <a:spcAft>
                <a:spcPts val="400"/>
              </a:spcAft>
            </a:pPr>
            <a:r>
              <a:rPr sz="1100" b="1">
                <a:solidFill>
                  <a:srgbClr val="161B26"/>
                </a:solidFill>
                <a:latin typeface="Arial"/>
              </a:rPr>
              <a:t>TSC Code</a:t>
            </a:r>
          </a:p>
        </p:txBody>
      </p:sp>
      <p:sp>
        <p:nvSpPr>
          <p:cNvPr id="17" name="Rectangle 16"/>
          <p:cNvSpPr/>
          <p:nvPr/>
        </p:nvSpPr>
        <p:spPr>
          <a:xfrm>
            <a:off x="3116823" y="2633472"/>
            <a:ext cx="8294888" cy="42519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4839" y="2633472"/>
            <a:ext cx="8075432" cy="425196"/>
          </a:xfrm>
          <a:prstGeom prst="rect">
            <a:avLst/>
          </a:prstGeom>
          <a:noFill/>
        </p:spPr>
        <p:txBody>
          <a:bodyPr wrap="square" anchor="ctr">
            <a:spAutoFit/>
          </a:bodyPr>
          <a:lstStyle/>
          <a:p>
            <a:pPr algn="l">
              <a:spcAft>
                <a:spcPts val="400"/>
              </a:spcAft>
            </a:pPr>
            <a:r>
              <a:rPr sz="1100" b="0">
                <a:solidFill>
                  <a:srgbClr val="161B26"/>
                </a:solidFill>
                <a:latin typeface="Arial"/>
              </a:rPr>
              <a:t>ICT-INT-0047-1.1</a:t>
            </a:r>
          </a:p>
        </p:txBody>
      </p:sp>
      <p:sp>
        <p:nvSpPr>
          <p:cNvPr id="19" name="Rectangle 18"/>
          <p:cNvSpPr/>
          <p:nvPr/>
        </p:nvSpPr>
        <p:spPr>
          <a:xfrm>
            <a:off x="777240" y="3058668"/>
            <a:ext cx="2339583" cy="42519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058668"/>
            <a:ext cx="2120127" cy="425196"/>
          </a:xfrm>
          <a:prstGeom prst="rect">
            <a:avLst/>
          </a:prstGeom>
          <a:noFill/>
        </p:spPr>
        <p:txBody>
          <a:bodyPr wrap="square" anchor="ctr">
            <a:spAutoFit/>
          </a:bodyPr>
          <a:lstStyle/>
          <a:p>
            <a:pPr algn="l">
              <a:spcAft>
                <a:spcPts val="400"/>
              </a:spcAft>
            </a:pPr>
            <a:r>
              <a:rPr sz="1100" b="1">
                <a:solidFill>
                  <a:srgbClr val="161B26"/>
                </a:solidFill>
                <a:latin typeface="Arial"/>
              </a:rPr>
              <a:t>Proficiency</a:t>
            </a:r>
          </a:p>
        </p:txBody>
      </p:sp>
      <p:sp>
        <p:nvSpPr>
          <p:cNvPr id="21" name="Rectangle 20"/>
          <p:cNvSpPr/>
          <p:nvPr/>
        </p:nvSpPr>
        <p:spPr>
          <a:xfrm>
            <a:off x="3116823" y="3058668"/>
            <a:ext cx="8294888" cy="42519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4839" y="3058668"/>
            <a:ext cx="8075432" cy="425196"/>
          </a:xfrm>
          <a:prstGeom prst="rect">
            <a:avLst/>
          </a:prstGeom>
          <a:noFill/>
        </p:spPr>
        <p:txBody>
          <a:bodyPr wrap="square" anchor="ctr">
            <a:spAutoFit/>
          </a:bodyPr>
          <a:lstStyle/>
          <a:p>
            <a:pPr algn="l">
              <a:spcAft>
                <a:spcPts val="400"/>
              </a:spcAft>
            </a:pPr>
            <a:r>
              <a:rPr sz="1100" b="0">
                <a:solidFill>
                  <a:srgbClr val="161B26"/>
                </a:solidFill>
                <a:latin typeface="Arial"/>
              </a:rPr>
              <a:t>Level 1</a:t>
            </a:r>
          </a:p>
        </p:txBody>
      </p:sp>
      <p:sp>
        <p:nvSpPr>
          <p:cNvPr id="23" name="Rectangle 22"/>
          <p:cNvSpPr/>
          <p:nvPr/>
        </p:nvSpPr>
        <p:spPr>
          <a:xfrm>
            <a:off x="777240" y="3483864"/>
            <a:ext cx="2339583" cy="42519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3483864"/>
            <a:ext cx="2120127" cy="425196"/>
          </a:xfrm>
          <a:prstGeom prst="rect">
            <a:avLst/>
          </a:prstGeom>
          <a:noFill/>
        </p:spPr>
        <p:txBody>
          <a:bodyPr wrap="square" anchor="ctr">
            <a:spAutoFit/>
          </a:bodyPr>
          <a:lstStyle/>
          <a:p>
            <a:pPr algn="l">
              <a:spcAft>
                <a:spcPts val="400"/>
              </a:spcAft>
            </a:pPr>
            <a:r>
              <a:rPr sz="1100" b="1">
                <a:solidFill>
                  <a:srgbClr val="161B26"/>
                </a:solidFill>
                <a:latin typeface="Arial"/>
              </a:rPr>
              <a:t>Ability A5</a:t>
            </a:r>
          </a:p>
        </p:txBody>
      </p:sp>
      <p:sp>
        <p:nvSpPr>
          <p:cNvPr id="25" name="Rectangle 24"/>
          <p:cNvSpPr/>
          <p:nvPr/>
        </p:nvSpPr>
        <p:spPr>
          <a:xfrm>
            <a:off x="3116823" y="3483864"/>
            <a:ext cx="8294888" cy="42519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44839" y="3483864"/>
            <a:ext cx="8075432" cy="425196"/>
          </a:xfrm>
          <a:prstGeom prst="rect">
            <a:avLst/>
          </a:prstGeom>
          <a:noFill/>
        </p:spPr>
        <p:txBody>
          <a:bodyPr wrap="square" anchor="ctr">
            <a:spAutoFit/>
          </a:bodyPr>
          <a:lstStyle/>
          <a:p>
            <a:pPr algn="l">
              <a:spcAft>
                <a:spcPts val="400"/>
              </a:spcAft>
            </a:pPr>
            <a:r>
              <a:rPr sz="1100" b="0">
                <a:solidFill>
                  <a:srgbClr val="161B26"/>
                </a:solidFill>
                <a:latin typeface="Arial"/>
              </a:rPr>
              <a:t>Design integration workflows between AI models and systems, such as batch processing, API integration, and multi-model orchestration</a:t>
            </a:r>
          </a:p>
        </p:txBody>
      </p:sp>
      <p:sp>
        <p:nvSpPr>
          <p:cNvPr id="27" name="Rectangle 26"/>
          <p:cNvSpPr/>
          <p:nvPr/>
        </p:nvSpPr>
        <p:spPr>
          <a:xfrm>
            <a:off x="777240" y="3909060"/>
            <a:ext cx="2339583" cy="42519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5256" y="3909060"/>
            <a:ext cx="2120127" cy="425196"/>
          </a:xfrm>
          <a:prstGeom prst="rect">
            <a:avLst/>
          </a:prstGeom>
          <a:noFill/>
        </p:spPr>
        <p:txBody>
          <a:bodyPr wrap="square" anchor="ctr">
            <a:spAutoFit/>
          </a:bodyPr>
          <a:lstStyle/>
          <a:p>
            <a:pPr algn="l">
              <a:spcAft>
                <a:spcPts val="400"/>
              </a:spcAft>
            </a:pPr>
            <a:r>
              <a:rPr sz="1100" b="1">
                <a:solidFill>
                  <a:srgbClr val="161B26"/>
                </a:solidFill>
                <a:latin typeface="Arial"/>
              </a:rPr>
              <a:t>Ability A2</a:t>
            </a:r>
          </a:p>
        </p:txBody>
      </p:sp>
      <p:sp>
        <p:nvSpPr>
          <p:cNvPr id="29" name="Rectangle 28"/>
          <p:cNvSpPr/>
          <p:nvPr/>
        </p:nvSpPr>
        <p:spPr>
          <a:xfrm>
            <a:off x="3116823" y="3909060"/>
            <a:ext cx="8294888" cy="42519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44839" y="3909060"/>
            <a:ext cx="8075432" cy="425196"/>
          </a:xfrm>
          <a:prstGeom prst="rect">
            <a:avLst/>
          </a:prstGeom>
          <a:noFill/>
        </p:spPr>
        <p:txBody>
          <a:bodyPr wrap="square" anchor="ctr">
            <a:spAutoFit/>
          </a:bodyPr>
          <a:lstStyle/>
          <a:p>
            <a:pPr algn="l">
              <a:spcAft>
                <a:spcPts val="400"/>
              </a:spcAft>
            </a:pPr>
            <a:r>
              <a:rPr sz="1100" b="0">
                <a:solidFill>
                  <a:srgbClr val="161B26"/>
                </a:solidFill>
                <a:latin typeface="Arial"/>
              </a:rPr>
              <a:t>Resolve compatibility issues with other software or systems (e.g. GitHub Copilot, CircleCI)</a:t>
            </a:r>
          </a:p>
        </p:txBody>
      </p:sp>
      <p:sp>
        <p:nvSpPr>
          <p:cNvPr id="31" name="Rectangle 30"/>
          <p:cNvSpPr/>
          <p:nvPr/>
        </p:nvSpPr>
        <p:spPr>
          <a:xfrm>
            <a:off x="777240" y="4334256"/>
            <a:ext cx="2339583" cy="42519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34256"/>
            <a:ext cx="2120127" cy="425196"/>
          </a:xfrm>
          <a:prstGeom prst="rect">
            <a:avLst/>
          </a:prstGeom>
          <a:noFill/>
        </p:spPr>
        <p:txBody>
          <a:bodyPr wrap="square" anchor="ctr">
            <a:spAutoFit/>
          </a:bodyPr>
          <a:lstStyle/>
          <a:p>
            <a:pPr algn="l">
              <a:spcAft>
                <a:spcPts val="400"/>
              </a:spcAft>
            </a:pPr>
            <a:r>
              <a:rPr sz="1100" b="1">
                <a:solidFill>
                  <a:srgbClr val="161B26"/>
                </a:solidFill>
                <a:latin typeface="Arial"/>
              </a:rPr>
              <a:t>Ability A3</a:t>
            </a:r>
          </a:p>
        </p:txBody>
      </p:sp>
      <p:sp>
        <p:nvSpPr>
          <p:cNvPr id="33" name="Rectangle 32"/>
          <p:cNvSpPr/>
          <p:nvPr/>
        </p:nvSpPr>
        <p:spPr>
          <a:xfrm>
            <a:off x="3116823" y="4334256"/>
            <a:ext cx="8294888" cy="42519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44839" y="4334256"/>
            <a:ext cx="8075432" cy="425196"/>
          </a:xfrm>
          <a:prstGeom prst="rect">
            <a:avLst/>
          </a:prstGeom>
          <a:noFill/>
        </p:spPr>
        <p:txBody>
          <a:bodyPr wrap="square" anchor="ctr">
            <a:spAutoFit/>
          </a:bodyPr>
          <a:lstStyle/>
          <a:p>
            <a:pPr algn="l">
              <a:spcAft>
                <a:spcPts val="400"/>
              </a:spcAft>
            </a:pPr>
            <a:r>
              <a:rPr sz="1100" b="0">
                <a:solidFill>
                  <a:srgbClr val="161B26"/>
                </a:solidFill>
                <a:latin typeface="Arial"/>
              </a:rPr>
              <a:t>Identify issues in generative AI models by analysing and interpreting error logs</a:t>
            </a:r>
          </a:p>
        </p:txBody>
      </p:sp>
      <p:sp>
        <p:nvSpPr>
          <p:cNvPr id="35" name="Rectangle 34"/>
          <p:cNvSpPr/>
          <p:nvPr/>
        </p:nvSpPr>
        <p:spPr>
          <a:xfrm>
            <a:off x="777240" y="4759452"/>
            <a:ext cx="2339583" cy="42519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5256" y="4759452"/>
            <a:ext cx="2120127" cy="425196"/>
          </a:xfrm>
          <a:prstGeom prst="rect">
            <a:avLst/>
          </a:prstGeom>
          <a:noFill/>
        </p:spPr>
        <p:txBody>
          <a:bodyPr wrap="square" anchor="ctr">
            <a:spAutoFit/>
          </a:bodyPr>
          <a:lstStyle/>
          <a:p>
            <a:pPr algn="l">
              <a:spcAft>
                <a:spcPts val="400"/>
              </a:spcAft>
            </a:pPr>
            <a:r>
              <a:rPr sz="1100" b="1">
                <a:solidFill>
                  <a:srgbClr val="161B26"/>
                </a:solidFill>
                <a:latin typeface="Arial"/>
              </a:rPr>
              <a:t>Knowledge K1</a:t>
            </a:r>
          </a:p>
        </p:txBody>
      </p:sp>
      <p:sp>
        <p:nvSpPr>
          <p:cNvPr id="37" name="Rectangle 36"/>
          <p:cNvSpPr/>
          <p:nvPr/>
        </p:nvSpPr>
        <p:spPr>
          <a:xfrm>
            <a:off x="3116823" y="4759452"/>
            <a:ext cx="8294888" cy="42519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44839" y="4759452"/>
            <a:ext cx="8075432" cy="425196"/>
          </a:xfrm>
          <a:prstGeom prst="rect">
            <a:avLst/>
          </a:prstGeom>
          <a:noFill/>
        </p:spPr>
        <p:txBody>
          <a:bodyPr wrap="square" anchor="ctr">
            <a:spAutoFit/>
          </a:bodyPr>
          <a:lstStyle/>
          <a:p>
            <a:pPr algn="l">
              <a:spcAft>
                <a:spcPts val="400"/>
              </a:spcAft>
            </a:pPr>
            <a:r>
              <a:rPr sz="1100" b="0">
                <a:solidFill>
                  <a:srgbClr val="161B26"/>
                </a:solidFill>
                <a:latin typeface="Arial"/>
              </a:rPr>
              <a:t>Concepts of software integration</a:t>
            </a:r>
          </a:p>
        </p:txBody>
      </p:sp>
      <p:sp>
        <p:nvSpPr>
          <p:cNvPr id="39" name="Rectangle 38"/>
          <p:cNvSpPr/>
          <p:nvPr/>
        </p:nvSpPr>
        <p:spPr>
          <a:xfrm>
            <a:off x="777240" y="5184648"/>
            <a:ext cx="2339583" cy="42519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5184648"/>
            <a:ext cx="2120127" cy="425196"/>
          </a:xfrm>
          <a:prstGeom prst="rect">
            <a:avLst/>
          </a:prstGeom>
          <a:noFill/>
        </p:spPr>
        <p:txBody>
          <a:bodyPr wrap="square" anchor="ctr">
            <a:spAutoFit/>
          </a:bodyPr>
          <a:lstStyle/>
          <a:p>
            <a:pPr algn="l">
              <a:spcAft>
                <a:spcPts val="400"/>
              </a:spcAft>
            </a:pPr>
            <a:r>
              <a:rPr sz="1100" b="1">
                <a:solidFill>
                  <a:srgbClr val="161B26"/>
                </a:solidFill>
                <a:latin typeface="Arial"/>
              </a:rPr>
              <a:t>Knowledge K2</a:t>
            </a:r>
          </a:p>
        </p:txBody>
      </p:sp>
      <p:sp>
        <p:nvSpPr>
          <p:cNvPr id="41" name="Rectangle 40"/>
          <p:cNvSpPr/>
          <p:nvPr/>
        </p:nvSpPr>
        <p:spPr>
          <a:xfrm>
            <a:off x="3116823" y="5184648"/>
            <a:ext cx="8294888" cy="42519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244839" y="5184648"/>
            <a:ext cx="8075432" cy="425196"/>
          </a:xfrm>
          <a:prstGeom prst="rect">
            <a:avLst/>
          </a:prstGeom>
          <a:noFill/>
        </p:spPr>
        <p:txBody>
          <a:bodyPr wrap="square" anchor="ctr">
            <a:spAutoFit/>
          </a:bodyPr>
          <a:lstStyle/>
          <a:p>
            <a:pPr algn="l">
              <a:spcAft>
                <a:spcPts val="400"/>
              </a:spcAft>
            </a:pPr>
            <a:r>
              <a:rPr sz="1100" b="0">
                <a:solidFill>
                  <a:srgbClr val="161B26"/>
                </a:solidFill>
                <a:latin typeface="Arial"/>
              </a:rPr>
              <a:t>Concepts of integrating multiple generative AI models, including common compatibility and integration issues</a:t>
            </a:r>
          </a:p>
        </p:txBody>
      </p:sp>
      <p:sp>
        <p:nvSpPr>
          <p:cNvPr id="43" name="Rectangle 42"/>
          <p:cNvSpPr/>
          <p:nvPr/>
        </p:nvSpPr>
        <p:spPr>
          <a:xfrm>
            <a:off x="777240" y="5609844"/>
            <a:ext cx="2339583" cy="42519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5609844"/>
            <a:ext cx="2120127" cy="425196"/>
          </a:xfrm>
          <a:prstGeom prst="rect">
            <a:avLst/>
          </a:prstGeom>
          <a:noFill/>
        </p:spPr>
        <p:txBody>
          <a:bodyPr wrap="square" anchor="ctr">
            <a:spAutoFit/>
          </a:bodyPr>
          <a:lstStyle/>
          <a:p>
            <a:pPr algn="l">
              <a:spcAft>
                <a:spcPts val="400"/>
              </a:spcAft>
            </a:pPr>
            <a:r>
              <a:rPr sz="1100" b="1">
                <a:solidFill>
                  <a:srgbClr val="161B26"/>
                </a:solidFill>
                <a:latin typeface="Arial"/>
              </a:rPr>
              <a:t>Knowledge K3</a:t>
            </a:r>
          </a:p>
        </p:txBody>
      </p:sp>
      <p:sp>
        <p:nvSpPr>
          <p:cNvPr id="45" name="Rectangle 44"/>
          <p:cNvSpPr/>
          <p:nvPr/>
        </p:nvSpPr>
        <p:spPr>
          <a:xfrm>
            <a:off x="3116823" y="5609844"/>
            <a:ext cx="8294888" cy="42519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44839" y="5609844"/>
            <a:ext cx="8075432" cy="425196"/>
          </a:xfrm>
          <a:prstGeom prst="rect">
            <a:avLst/>
          </a:prstGeom>
          <a:noFill/>
        </p:spPr>
        <p:txBody>
          <a:bodyPr wrap="square" anchor="ctr">
            <a:spAutoFit/>
          </a:bodyPr>
          <a:lstStyle/>
          <a:p>
            <a:pPr algn="l">
              <a:spcAft>
                <a:spcPts val="400"/>
              </a:spcAft>
            </a:pPr>
            <a:r>
              <a:rPr sz="1100" b="0">
                <a:solidFill>
                  <a:srgbClr val="161B26"/>
                </a:solidFill>
                <a:latin typeface="Arial"/>
              </a:rPr>
              <a:t>Concepts behind context augmentation techniques, such as knowledge graphs</a:t>
            </a:r>
          </a:p>
        </p:txBody>
      </p:sp>
      <p:sp>
        <p:nvSpPr>
          <p:cNvPr id="47" name="TextBox 46"/>
          <p:cNvSpPr txBox="1"/>
          <p:nvPr/>
        </p:nvSpPr>
        <p:spPr>
          <a:xfrm>
            <a:off x="777240" y="6053328"/>
            <a:ext cx="10698480" cy="365760"/>
          </a:xfrm>
          <a:prstGeom prst="rect">
            <a:avLst/>
          </a:prstGeom>
          <a:noFill/>
        </p:spPr>
        <p:txBody>
          <a:bodyPr wrap="square" anchor="t">
            <a:spAutoFit/>
          </a:bodyPr>
          <a:lstStyle/>
          <a:p>
            <a:pPr algn="ctr">
              <a:spcAft>
                <a:spcPts val="400"/>
              </a:spcAft>
            </a:pPr>
            <a:r>
              <a:rPr sz="1300" b="0">
                <a:solidFill>
                  <a:srgbClr val="5B6372"/>
                </a:solidFill>
                <a:latin typeface="Arial"/>
              </a:rPr>
              <a:t>Every topic, activity and assessment item maps to these TSC ability and knowledge statements.</a:t>
            </a:r>
          </a:p>
        </p:txBody>
      </p:sp>
      <p:sp>
        <p:nvSpPr>
          <p:cNvPr id="48" name="TextBox 47"/>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9" name="TextBox 48"/>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0" name="TextBox 4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BY THE END OF THIS COURSE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1115568"/>
          </a:xfrm>
          <a:prstGeom prst="rect">
            <a:avLst/>
          </a:prstGeom>
          <a:noFill/>
        </p:spPr>
        <p:txBody>
          <a:bodyPr wrap="square" anchor="ctr">
            <a:spAutoFit/>
          </a:bodyPr>
          <a:lstStyle/>
          <a:p>
            <a:pPr algn="l">
              <a:spcAft>
                <a:spcPts val="300"/>
              </a:spcAft>
            </a:pPr>
            <a:r>
              <a:rPr sz="1600" b="1">
                <a:solidFill>
                  <a:srgbClr val="161B26"/>
                </a:solidFill>
                <a:latin typeface="Arial"/>
              </a:rPr>
              <a:t>LO1</a:t>
            </a:r>
          </a:p>
          <a:p>
            <a:pPr algn="l">
              <a:spcAft>
                <a:spcPts val="300"/>
              </a:spcAft>
            </a:pPr>
            <a:r>
              <a:rPr sz="1200" b="0">
                <a:solidFill>
                  <a:srgbClr val="5B6372"/>
                </a:solidFill>
                <a:latin typeface="Arial"/>
              </a:rPr>
              <a:t>Design and implement multi-agent integration workflows using Agentic AI frameworks — CrewAI, AutoGen and the OpenAI Agents SDK / ADK</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447288"/>
            <a:ext cx="9427464" cy="1115568"/>
          </a:xfrm>
          <a:prstGeom prst="rect">
            <a:avLst/>
          </a:prstGeom>
          <a:noFill/>
        </p:spPr>
        <p:txBody>
          <a:bodyPr wrap="square" anchor="ctr">
            <a:spAutoFit/>
          </a:bodyPr>
          <a:lstStyle/>
          <a:p>
            <a:pPr algn="l">
              <a:spcAft>
                <a:spcPts val="300"/>
              </a:spcAft>
            </a:pPr>
            <a:r>
              <a:rPr sz="1600" b="1">
                <a:solidFill>
                  <a:srgbClr val="161B26"/>
                </a:solidFill>
                <a:latin typeface="Arial"/>
              </a:rPr>
              <a:t>LO2</a:t>
            </a:r>
          </a:p>
          <a:p>
            <a:pPr algn="l">
              <a:spcAft>
                <a:spcPts val="300"/>
              </a:spcAft>
            </a:pPr>
            <a:r>
              <a:rPr sz="1200" b="0">
                <a:solidFill>
                  <a:srgbClr val="5B6372"/>
                </a:solidFill>
                <a:latin typeface="Arial"/>
              </a:rPr>
              <a:t>Develop and deploy Agentic AI and RAG applications for inference on Streamlit Cloud</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983480"/>
            <a:ext cx="9427464" cy="1115568"/>
          </a:xfrm>
          <a:prstGeom prst="rect">
            <a:avLst/>
          </a:prstGeom>
          <a:noFill/>
        </p:spPr>
        <p:txBody>
          <a:bodyPr wrap="square" anchor="ctr">
            <a:spAutoFit/>
          </a:bodyPr>
          <a:lstStyle/>
          <a:p>
            <a:pPr algn="l">
              <a:spcAft>
                <a:spcPts val="300"/>
              </a:spcAft>
            </a:pPr>
            <a:r>
              <a:rPr sz="1600" b="1">
                <a:solidFill>
                  <a:srgbClr val="161B26"/>
                </a:solidFill>
                <a:latin typeface="Arial"/>
              </a:rPr>
              <a:t>LO3</a:t>
            </a:r>
          </a:p>
          <a:p>
            <a:pPr algn="l">
              <a:spcAft>
                <a:spcPts val="300"/>
              </a:spcAft>
            </a:pPr>
            <a:r>
              <a:rPr sz="1200" b="0">
                <a:solidFill>
                  <a:srgbClr val="5B6372"/>
                </a:solidFill>
                <a:latin typeface="Arial"/>
              </a:rPr>
              <a:t>Deploy guardrails and model alignment techniques to ensure safe and aligned outputs in Agentic AI applications</a:t>
            </a:r>
          </a:p>
        </p:txBody>
      </p:sp>
      <p:sp>
        <p:nvSpPr>
          <p:cNvPr id="22" name="TextBox 2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3" name="TextBox 2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JOURNEY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Course Outline — Three Learning Units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Days 1–2</a:t>
            </a:r>
          </a:p>
        </p:txBody>
      </p:sp>
      <p:sp>
        <p:nvSpPr>
          <p:cNvPr id="12" name="TextBox 11"/>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Days 3–4</a:t>
            </a:r>
          </a:p>
        </p:txBody>
      </p:sp>
      <p:sp>
        <p:nvSpPr>
          <p:cNvPr id="13" name="TextBox 12"/>
          <p:cNvSpPr txBox="1"/>
          <p:nvPr/>
        </p:nvSpPr>
        <p:spPr>
          <a:xfrm>
            <a:off x="1005840" y="2468880"/>
            <a:ext cx="4754880" cy="3474720"/>
          </a:xfrm>
          <a:prstGeom prst="rect">
            <a:avLst/>
          </a:prstGeom>
          <a:noFill/>
        </p:spPr>
        <p:txBody>
          <a:bodyPr wrap="square">
            <a:spAutoFit/>
          </a:bodyPr>
          <a:lstStyle/>
          <a:p>
            <a:pPr>
              <a:spcAft>
                <a:spcPts val="1000"/>
              </a:spcAft>
            </a:pPr>
            <a:r>
              <a:rPr sz="1500" b="1">
                <a:solidFill>
                  <a:srgbClr val="161B26"/>
                </a:solidFill>
                <a:latin typeface="Arial"/>
              </a:rPr>
              <a:t>•  LU1 — Agentic AI App Development</a:t>
            </a:r>
          </a:p>
          <a:p>
            <a:pPr>
              <a:spcAft>
                <a:spcPts val="1000"/>
              </a:spcAft>
            </a:pPr>
            <a:r>
              <a:rPr sz="1300" b="0">
                <a:solidFill>
                  <a:srgbClr val="5B6372"/>
                </a:solidFill>
                <a:latin typeface="Arial"/>
              </a:rPr>
              <a:t>–  Frameworks: CrewAI · AutoGen · OpenAI Agents SDK / ADK</a:t>
            </a:r>
          </a:p>
          <a:p>
            <a:pPr>
              <a:spcAft>
                <a:spcPts val="1000"/>
              </a:spcAft>
            </a:pPr>
            <a:r>
              <a:rPr sz="1300" b="0">
                <a:solidFill>
                  <a:srgbClr val="5B6372"/>
                </a:solidFill>
                <a:latin typeface="Arial"/>
              </a:rPr>
              <a:t>–  Multi-agent workflows and workflow design patterns</a:t>
            </a:r>
          </a:p>
          <a:p>
            <a:pPr>
              <a:spcAft>
                <a:spcPts val="1000"/>
              </a:spcAft>
            </a:pPr>
            <a:r>
              <a:rPr sz="1300" b="0">
                <a:solidFill>
                  <a:srgbClr val="5B6372"/>
                </a:solidFill>
                <a:latin typeface="Arial"/>
              </a:rPr>
              <a:t>–  Building agentic apps · development with AI IDEs</a:t>
            </a:r>
          </a:p>
          <a:p>
            <a:pPr>
              <a:spcAft>
                <a:spcPts val="1000"/>
              </a:spcAft>
            </a:pPr>
            <a:r>
              <a:rPr sz="1300" b="0">
                <a:solidFill>
                  <a:srgbClr val="5B6372"/>
                </a:solidFill>
                <a:latin typeface="Arial"/>
              </a:rPr>
              <a:t>–  Activities 1–7</a:t>
            </a:r>
          </a:p>
          <a:p>
            <a:pPr>
              <a:spcAft>
                <a:spcPts val="1000"/>
              </a:spcAft>
            </a:pPr>
            <a:r>
              <a:rPr sz="1500" b="1">
                <a:solidFill>
                  <a:srgbClr val="161B26"/>
                </a:solidFill>
                <a:latin typeface="Arial"/>
              </a:rPr>
              <a:t>•  LU2 — Agentic AI and RAG Deployment</a:t>
            </a:r>
          </a:p>
          <a:p>
            <a:pPr>
              <a:spcAft>
                <a:spcPts val="1000"/>
              </a:spcAft>
            </a:pPr>
            <a:r>
              <a:rPr sz="1300" b="0">
                <a:solidFill>
                  <a:srgbClr val="5B6372"/>
                </a:solidFill>
                <a:latin typeface="Arial"/>
              </a:rPr>
              <a:t>–  Context augmentation · knowledge graphs · GraphRAG</a:t>
            </a:r>
          </a:p>
        </p:txBody>
      </p:sp>
      <p:sp>
        <p:nvSpPr>
          <p:cNvPr id="14" name="TextBox 13"/>
          <p:cNvSpPr txBox="1"/>
          <p:nvPr/>
        </p:nvSpPr>
        <p:spPr>
          <a:xfrm>
            <a:off x="6583680" y="2468880"/>
            <a:ext cx="4617720" cy="3474720"/>
          </a:xfrm>
          <a:prstGeom prst="rect">
            <a:avLst/>
          </a:prstGeom>
          <a:noFill/>
        </p:spPr>
        <p:txBody>
          <a:bodyPr wrap="square">
            <a:spAutoFit/>
          </a:bodyPr>
          <a:lstStyle/>
          <a:p>
            <a:pPr>
              <a:spcAft>
                <a:spcPts val="1000"/>
              </a:spcAft>
            </a:pPr>
            <a:r>
              <a:rPr sz="1300" b="0">
                <a:solidFill>
                  <a:srgbClr val="5B6372"/>
                </a:solidFill>
                <a:latin typeface="Arial"/>
              </a:rPr>
              <a:t>–  Cloud inference · error-log analysis · Streamlit Cloud</a:t>
            </a:r>
          </a:p>
          <a:p>
            <a:pPr>
              <a:spcAft>
                <a:spcPts val="1000"/>
              </a:spcAft>
            </a:pPr>
            <a:r>
              <a:rPr sz="1300" b="0">
                <a:solidFill>
                  <a:srgbClr val="5B6372"/>
                </a:solidFill>
                <a:latin typeface="Arial"/>
              </a:rPr>
              <a:t>–  Activities 8–14</a:t>
            </a:r>
          </a:p>
          <a:p>
            <a:pPr>
              <a:spcAft>
                <a:spcPts val="1000"/>
              </a:spcAft>
            </a:pPr>
            <a:r>
              <a:rPr sz="1500" b="1">
                <a:solidFill>
                  <a:srgbClr val="161B26"/>
                </a:solidFill>
                <a:latin typeface="Arial"/>
              </a:rPr>
              <a:t>•  LU3 — Model Alignment and Guardrails</a:t>
            </a:r>
          </a:p>
          <a:p>
            <a:pPr>
              <a:spcAft>
                <a:spcPts val="1000"/>
              </a:spcAft>
            </a:pPr>
            <a:r>
              <a:rPr sz="1300" b="0">
                <a:solidFill>
                  <a:srgbClr val="5B6372"/>
                </a:solidFill>
                <a:latin typeface="Arial"/>
              </a:rPr>
              <a:t>–  Safeguarding LLMs with guardrails</a:t>
            </a:r>
          </a:p>
          <a:p>
            <a:pPr>
              <a:spcAft>
                <a:spcPts val="1000"/>
              </a:spcAft>
            </a:pPr>
            <a:r>
              <a:rPr sz="1300" b="0">
                <a:solidFill>
                  <a:srgbClr val="5B6372"/>
                </a:solidFill>
                <a:latin typeface="Arial"/>
              </a:rPr>
              <a:t>–  Model alignment for safety · RLHF, DPO, Constitutional AI</a:t>
            </a:r>
          </a:p>
          <a:p>
            <a:pPr>
              <a:spcAft>
                <a:spcPts val="1000"/>
              </a:spcAft>
            </a:pPr>
            <a:r>
              <a:rPr sz="1300" b="0">
                <a:solidFill>
                  <a:srgbClr val="5B6372"/>
                </a:solidFill>
                <a:latin typeface="Arial"/>
              </a:rPr>
              <a:t>–  Deploying guardrails on Agentic AI applications</a:t>
            </a:r>
          </a:p>
          <a:p>
            <a:pPr>
              <a:spcAft>
                <a:spcPts val="1000"/>
              </a:spcAft>
            </a:pPr>
            <a:r>
              <a:rPr sz="1300" b="0">
                <a:solidFill>
                  <a:srgbClr val="5B6372"/>
                </a:solidFill>
                <a:latin typeface="Arial"/>
              </a:rPr>
              <a:t>–  Activities 15–20</a:t>
            </a:r>
          </a:p>
        </p:txBody>
      </p:sp>
      <p:sp>
        <p:nvSpPr>
          <p:cNvPr id="15" name="TextBox 14"/>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6" name="TextBox 15"/>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CONCRETE DELIVERABLES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20 Hands-On Activities — What You'll Ship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 tool-using agent</a:t>
            </a:r>
          </a:p>
          <a:p>
            <a:pPr algn="l">
              <a:spcAft>
                <a:spcPts val="300"/>
              </a:spcAft>
            </a:pPr>
            <a:r>
              <a:rPr sz="1100" b="0">
                <a:solidFill>
                  <a:srgbClr val="5B6372"/>
                </a:solidFill>
                <a:latin typeface="Arial"/>
              </a:rPr>
              <a:t>A Streamlit chatbot that searches the live web (Activity 3).</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 CrewAI crew and an AutoGen team</a:t>
            </a:r>
          </a:p>
          <a:p>
            <a:pPr algn="l">
              <a:spcAft>
                <a:spcPts val="300"/>
              </a:spcAft>
            </a:pPr>
            <a:r>
              <a:rPr sz="1100" b="0">
                <a:solidFill>
                  <a:srgbClr val="5B6372"/>
                </a:solidFill>
                <a:latin typeface="Arial"/>
              </a:rPr>
              <a:t>Role-based and conversational multi-agent systems (Activities 4–5).</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 multi-agent orchestrator</a:t>
            </a:r>
          </a:p>
          <a:p>
            <a:pPr algn="l">
              <a:spcAft>
                <a:spcPts val="300"/>
              </a:spcAft>
            </a:pPr>
            <a:r>
              <a:rPr sz="1100" b="0">
                <a:solidFill>
                  <a:srgbClr val="5B6372"/>
                </a:solidFill>
                <a:latin typeface="Arial"/>
              </a:rPr>
              <a:t>Trip planner delegating to three specialists (Activity 6).</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 RAG application</a:t>
            </a:r>
          </a:p>
          <a:p>
            <a:pPr algn="l">
              <a:spcAft>
                <a:spcPts val="300"/>
              </a:spcAft>
            </a:pPr>
            <a:r>
              <a:rPr sz="1100" b="0">
                <a:solidFill>
                  <a:srgbClr val="5B6372"/>
                </a:solidFill>
                <a:latin typeface="Arial"/>
              </a:rPr>
              <a:t>Invoice question-answering grounded in your own PDFs (Activity 8).</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 public cloud deployment</a:t>
            </a:r>
          </a:p>
          <a:p>
            <a:pPr algn="l">
              <a:spcAft>
                <a:spcPts val="300"/>
              </a:spcAft>
            </a:pPr>
            <a:r>
              <a:rPr sz="1100" b="0">
                <a:solidFill>
                  <a:srgbClr val="5B6372"/>
                </a:solidFill>
                <a:latin typeface="Arial"/>
              </a:rPr>
              <a:t>Your app live on a *.streamlit.app URL (Activities 12, 14).</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 guardrailed production app</a:t>
            </a:r>
          </a:p>
          <a:p>
            <a:pPr algn="l">
              <a:spcAft>
                <a:spcPts val="300"/>
              </a:spcAft>
            </a:pPr>
            <a:r>
              <a:rPr sz="1100" b="0">
                <a:solidFill>
                  <a:srgbClr val="5B6372"/>
                </a:solidFill>
                <a:latin typeface="Arial"/>
              </a:rPr>
              <a:t>Input, output and human-oversight controls that survive a red-team re-test (Activity 20).</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BEFORE THE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Phones away</a:t>
            </a:r>
          </a:p>
          <a:p>
            <a:pPr algn="l">
              <a:spcAft>
                <a:spcPts val="300"/>
              </a:spcAft>
            </a:pPr>
            <a:r>
              <a:rPr sz="1200" b="0">
                <a:solidFill>
                  <a:srgbClr val="5B6372"/>
                </a:solidFill>
                <a:latin typeface="Arial"/>
              </a:rPr>
              <a:t>Place phones and other materials under the table or on the floor.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No recording</a:t>
            </a:r>
          </a:p>
          <a:p>
            <a:pPr algn="l">
              <a:spcAft>
                <a:spcPts val="300"/>
              </a:spcAft>
            </a:pPr>
            <a:r>
              <a:rPr sz="1200" b="0">
                <a:solidFill>
                  <a:srgbClr val="5B6372"/>
                </a:solidFill>
                <a:latin typeface="Arial"/>
              </a:rPr>
              <a:t>No photos or recording of the assessment scripts.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Work alone</a:t>
            </a:r>
          </a:p>
          <a:p>
            <a:pPr algn="l">
              <a:spcAft>
                <a:spcPts val="300"/>
              </a:spcAft>
            </a:pPr>
            <a:r>
              <a:rPr sz="1200" b="0">
                <a:solidFill>
                  <a:srgbClr val="5B6372"/>
                </a:solidFill>
                <a:latin typeface="Arial"/>
              </a:rPr>
              <a:t>No discussion with other learners during the assessment.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Black or blue pen</a:t>
            </a:r>
          </a:p>
          <a:p>
            <a:pPr algn="l">
              <a:spcAft>
                <a:spcPts val="300"/>
              </a:spcAft>
            </a:pPr>
            <a:r>
              <a:rPr sz="1200" b="0">
                <a:solidFill>
                  <a:srgbClr val="5B6372"/>
                </a:solidFill>
                <a:latin typeface="Arial"/>
              </a:rPr>
              <a:t>Use a black or blue pen for hard-copy assessments.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No correction fluid</a:t>
            </a:r>
          </a:p>
          <a:p>
            <a:pPr algn="l">
              <a:spcAft>
                <a:spcPts val="300"/>
              </a:spcAft>
            </a:pPr>
            <a:r>
              <a:rPr sz="1200" b="0">
                <a:solidFill>
                  <a:srgbClr val="5B6372"/>
                </a:solidFill>
                <a:latin typeface="Arial"/>
              </a:rPr>
              <a:t>No liquid paper or correction tape — cross out cleanly instead.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Time is called</a:t>
            </a:r>
          </a:p>
          <a:p>
            <a:pPr algn="l">
              <a:spcAft>
                <a:spcPts val="300"/>
              </a:spcAft>
            </a:pPr>
            <a:r>
              <a:rPr sz="1200" b="0">
                <a:solidFill>
                  <a:srgbClr val="5B6372"/>
                </a:solidFill>
                <a:latin typeface="Arial"/>
              </a:rPr>
              <a:t>Assessment scripts are collected when the time is up.</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Final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WA — Written</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Short-Answer Questions (SAQ)</a:t>
            </a:r>
          </a:p>
          <a:p>
            <a:pPr>
              <a:spcAft>
                <a:spcPts val="900"/>
              </a:spcAft>
            </a:pPr>
            <a:r>
              <a:rPr sz="1400" b="0">
                <a:solidFill>
                  <a:srgbClr val="161B26"/>
                </a:solidFill>
                <a:latin typeface="Arial"/>
              </a:rPr>
              <a:t>•  1 hour · open book</a:t>
            </a:r>
          </a:p>
          <a:p>
            <a:pPr>
              <a:spcAft>
                <a:spcPts val="900"/>
              </a:spcAft>
            </a:pPr>
            <a:r>
              <a:rPr sz="1400" b="0">
                <a:solidFill>
                  <a:srgbClr val="161B26"/>
                </a:solidFill>
                <a:latin typeface="Arial"/>
              </a:rPr>
              <a:t>•  Tests the KNOWLEDGE behind the course</a:t>
            </a:r>
          </a:p>
          <a:p>
            <a:pPr>
              <a:spcAft>
                <a:spcPts val="900"/>
              </a:spcAft>
            </a:pPr>
            <a:r>
              <a:rPr sz="1400" b="0">
                <a:solidFill>
                  <a:srgbClr val="161B26"/>
                </a:solidFill>
                <a:latin typeface="Arial"/>
              </a:rPr>
              <a:t>•  Covers all three Learning Units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PP — Practical</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Practical Performance tasks</a:t>
            </a:r>
          </a:p>
          <a:p>
            <a:pPr>
              <a:spcAft>
                <a:spcPts val="900"/>
              </a:spcAft>
            </a:pPr>
            <a:r>
              <a:rPr sz="1400" b="0">
                <a:solidFill>
                  <a:srgbClr val="161B26"/>
                </a:solidFill>
                <a:latin typeface="Arial"/>
              </a:rPr>
              <a:t>•  1 hour · open book</a:t>
            </a:r>
          </a:p>
          <a:p>
            <a:pPr>
              <a:spcAft>
                <a:spcPts val="900"/>
              </a:spcAft>
            </a:pPr>
            <a:r>
              <a:rPr sz="1400" b="0">
                <a:solidFill>
                  <a:srgbClr val="161B26"/>
                </a:solidFill>
                <a:latin typeface="Arial"/>
              </a:rPr>
              <a:t>•  Build, deploy or safeguard an app</a:t>
            </a:r>
          </a:p>
          <a:p>
            <a:pPr>
              <a:spcAft>
                <a:spcPts val="900"/>
              </a:spcAft>
            </a:pPr>
            <a:r>
              <a:rPr sz="1400" b="0">
                <a:solidFill>
                  <a:srgbClr val="161B26"/>
                </a:solidFill>
                <a:latin typeface="Arial"/>
              </a:rPr>
              <a:t>•  Drawn from the class activities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Rules &amp; outcome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Open book: slides, Learner Guide and approved materials</a:t>
            </a:r>
          </a:p>
          <a:p>
            <a:pPr>
              <a:spcAft>
                <a:spcPts val="900"/>
              </a:spcAft>
            </a:pPr>
            <a:r>
              <a:rPr sz="1400" b="0">
                <a:solidFill>
                  <a:srgbClr val="161B26"/>
                </a:solidFill>
                <a:latin typeface="Arial"/>
              </a:rPr>
              <a:t>•  Grading: Competent / Not Yet Competent</a:t>
            </a:r>
          </a:p>
          <a:p>
            <a:pPr>
              <a:spcAft>
                <a:spcPts val="900"/>
              </a:spcAft>
            </a:pPr>
            <a:r>
              <a:rPr sz="1400" b="0">
                <a:solidFill>
                  <a:srgbClr val="161B26"/>
                </a:solidFill>
                <a:latin typeface="Arial"/>
              </a:rPr>
              <a:t>•  75% attendance required to be eligible</a:t>
            </a:r>
          </a:p>
          <a:p>
            <a:pPr>
              <a:spcAft>
                <a:spcPts val="900"/>
              </a:spcAft>
            </a:pPr>
            <a:r>
              <a:rPr sz="1400" b="0">
                <a:solidFill>
                  <a:srgbClr val="161B26"/>
                </a:solidFill>
                <a:latin typeface="Arial"/>
              </a:rPr>
              <a:t>•  An appeal process is available</a:t>
            </a:r>
          </a:p>
        </p:txBody>
      </p:sp>
      <p:sp>
        <p:nvSpPr>
          <p:cNvPr id="19" name="TextBox 18"/>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0" name="TextBox 19"/>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TRAQOM survey — scan the QR code on the LMS</a:t>
            </a:r>
          </a:p>
        </p:txBody>
      </p:sp>
      <p:sp>
        <p:nvSpPr>
          <p:cNvPr id="12" name="TextBox 11"/>
          <p:cNvSpPr txBox="1"/>
          <p:nvPr/>
        </p:nvSpPr>
        <p:spPr>
          <a:xfrm>
            <a:off x="2618841"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Assessment digital attendance — scan the SSG QR</a:t>
            </a:r>
          </a:p>
        </p:txBody>
      </p:sp>
      <p:sp>
        <p:nvSpPr>
          <p:cNvPr id="18" name="TextBox 17"/>
          <p:cNvSpPr txBox="1"/>
          <p:nvPr/>
        </p:nvSpPr>
        <p:spPr>
          <a:xfrm>
            <a:off x="4807914"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Sit WA (SAQ) 1 h, then PP 1 h — open book</a:t>
            </a:r>
          </a:p>
        </p:txBody>
      </p:sp>
      <p:sp>
        <p:nvSpPr>
          <p:cNvPr id="24" name="TextBox 23"/>
          <p:cNvSpPr txBox="1"/>
          <p:nvPr/>
        </p:nvSpPr>
        <p:spPr>
          <a:xfrm>
            <a:off x="6996987"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Submit your answers on the LMS</a:t>
            </a:r>
          </a:p>
        </p:txBody>
      </p:sp>
      <p:sp>
        <p:nvSpPr>
          <p:cNvPr id="30" name="TextBox 29"/>
          <p:cNvSpPr txBox="1"/>
          <p:nvPr/>
        </p:nvSpPr>
        <p:spPr>
          <a:xfrm>
            <a:off x="9186060"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Sign the Assessment Summary Record</a:t>
            </a:r>
          </a:p>
        </p:txBody>
      </p:sp>
      <p:sp>
        <p:nvSpPr>
          <p:cNvPr id="36" name="TextBox 35"/>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7" name="TextBox 36"/>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LEARNING UNIT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Agentic AI App Development with Agentic AI Frameworks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Agentic AI frameworks · multi-agent workflows · workflow design · building agentic apps · development with AI IDEs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0" name="TextBox 9"/>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WHY AGENTIC AI</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An LLM answers. An agent acts.</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Give a model instructions, tools and memory, and it stops being a chatbot and starts completing goals on your behalf.</a:t>
            </a:r>
          </a:p>
        </p:txBody>
      </p:sp>
      <p:sp>
        <p:nvSpPr>
          <p:cNvPr id="7" name="TextBox 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8" name="TextBox 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MAKES AN AGENT AGENTIC</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The Agentic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gent_loop.png"/>
          <p:cNvPicPr>
            <a:picLocks noChangeAspect="1"/>
          </p:cNvPicPr>
          <p:nvPr/>
        </p:nvPicPr>
        <p:blipFill>
          <a:blip r:embed="rId2"/>
          <a:stretch>
            <a:fillRect/>
          </a:stretch>
        </p:blipFill>
        <p:spPr>
          <a:xfrm>
            <a:off x="777240" y="2413303"/>
            <a:ext cx="6400800" cy="3082954"/>
          </a:xfrm>
          <a:prstGeom prst="rect">
            <a:avLst/>
          </a:prstGeom>
        </p:spPr>
      </p:pic>
      <p:sp>
        <p:nvSpPr>
          <p:cNvPr id="8" name="Rectangle 7"/>
          <p:cNvSpPr/>
          <p:nvPr/>
        </p:nvSpPr>
        <p:spPr>
          <a:xfrm>
            <a:off x="7498080" y="178308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8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54112" y="1783080"/>
            <a:ext cx="3456432" cy="948690"/>
          </a:xfrm>
          <a:prstGeom prst="rect">
            <a:avLst/>
          </a:prstGeom>
          <a:noFill/>
        </p:spPr>
        <p:txBody>
          <a:bodyPr wrap="square" anchor="ctr">
            <a:spAutoFit/>
          </a:bodyPr>
          <a:lstStyle/>
          <a:p>
            <a:pPr algn="l">
              <a:spcAft>
                <a:spcPts val="200"/>
              </a:spcAft>
            </a:pPr>
            <a:r>
              <a:rPr sz="1400" b="1">
                <a:solidFill>
                  <a:srgbClr val="1F6FEB"/>
                </a:solidFill>
                <a:latin typeface="Arial"/>
              </a:rPr>
              <a:t>Perceive</a:t>
            </a:r>
          </a:p>
          <a:p>
            <a:pPr algn="l">
              <a:spcAft>
                <a:spcPts val="200"/>
              </a:spcAft>
            </a:pPr>
            <a:r>
              <a:rPr sz="1200" b="0">
                <a:solidFill>
                  <a:srgbClr val="161B26"/>
                </a:solidFill>
                <a:latin typeface="Arial"/>
              </a:rPr>
              <a:t>The agent reads its goal, the conversation so far and any retrieved context.</a:t>
            </a:r>
          </a:p>
        </p:txBody>
      </p:sp>
      <p:sp>
        <p:nvSpPr>
          <p:cNvPr id="11" name="Rectangle 10"/>
          <p:cNvSpPr/>
          <p:nvPr/>
        </p:nvSpPr>
        <p:spPr>
          <a:xfrm>
            <a:off x="7498080" y="291465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54112" y="2914650"/>
            <a:ext cx="3456432" cy="948690"/>
          </a:xfrm>
          <a:prstGeom prst="rect">
            <a:avLst/>
          </a:prstGeom>
          <a:noFill/>
        </p:spPr>
        <p:txBody>
          <a:bodyPr wrap="square" anchor="ctr">
            <a:spAutoFit/>
          </a:bodyPr>
          <a:lstStyle/>
          <a:p>
            <a:pPr algn="l">
              <a:spcAft>
                <a:spcPts val="200"/>
              </a:spcAft>
            </a:pPr>
            <a:r>
              <a:rPr sz="1400" b="1">
                <a:solidFill>
                  <a:srgbClr val="10B981"/>
                </a:solidFill>
                <a:latin typeface="Arial"/>
              </a:rPr>
              <a:t>Reason</a:t>
            </a:r>
          </a:p>
          <a:p>
            <a:pPr algn="l">
              <a:spcAft>
                <a:spcPts val="200"/>
              </a:spcAft>
            </a:pPr>
            <a:r>
              <a:rPr sz="1200" b="0">
                <a:solidFill>
                  <a:srgbClr val="161B26"/>
                </a:solidFill>
                <a:latin typeface="Arial"/>
              </a:rPr>
              <a:t>The LLM decides the next step — answer directly, or call a tool first.</a:t>
            </a:r>
          </a:p>
        </p:txBody>
      </p:sp>
      <p:sp>
        <p:nvSpPr>
          <p:cNvPr id="14" name="Rectangle 13"/>
          <p:cNvSpPr/>
          <p:nvPr/>
        </p:nvSpPr>
        <p:spPr>
          <a:xfrm>
            <a:off x="7498080" y="404622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8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54112" y="4046220"/>
            <a:ext cx="3456432" cy="948690"/>
          </a:xfrm>
          <a:prstGeom prst="rect">
            <a:avLst/>
          </a:prstGeom>
          <a:noFill/>
        </p:spPr>
        <p:txBody>
          <a:bodyPr wrap="square" anchor="ctr">
            <a:spAutoFit/>
          </a:bodyPr>
          <a:lstStyle/>
          <a:p>
            <a:pPr algn="l">
              <a:spcAft>
                <a:spcPts val="200"/>
              </a:spcAft>
            </a:pPr>
            <a:r>
              <a:rPr sz="1400" b="1">
                <a:solidFill>
                  <a:srgbClr val="7C3AED"/>
                </a:solidFill>
                <a:latin typeface="Arial"/>
              </a:rPr>
              <a:t>Act</a:t>
            </a:r>
          </a:p>
          <a:p>
            <a:pPr algn="l">
              <a:spcAft>
                <a:spcPts val="200"/>
              </a:spcAft>
            </a:pPr>
            <a:r>
              <a:rPr sz="1200" b="0">
                <a:solidFill>
                  <a:srgbClr val="161B26"/>
                </a:solidFill>
                <a:latin typeface="Arial"/>
              </a:rPr>
              <a:t>It invokes a function tool, another agent, or returns the final answer.</a:t>
            </a:r>
          </a:p>
        </p:txBody>
      </p:sp>
      <p:sp>
        <p:nvSpPr>
          <p:cNvPr id="17" name="Rectangle 16"/>
          <p:cNvSpPr/>
          <p:nvPr/>
        </p:nvSpPr>
        <p:spPr>
          <a:xfrm>
            <a:off x="7498080" y="517779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9808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54112" y="5177790"/>
            <a:ext cx="3456432" cy="948690"/>
          </a:xfrm>
          <a:prstGeom prst="rect">
            <a:avLst/>
          </a:prstGeom>
          <a:noFill/>
        </p:spPr>
        <p:txBody>
          <a:bodyPr wrap="square" anchor="ctr">
            <a:spAutoFit/>
          </a:bodyPr>
          <a:lstStyle/>
          <a:p>
            <a:pPr algn="l">
              <a:spcAft>
                <a:spcPts val="200"/>
              </a:spcAft>
            </a:pPr>
            <a:r>
              <a:rPr sz="1400" b="1">
                <a:solidFill>
                  <a:srgbClr val="F59E0B"/>
                </a:solidFill>
                <a:latin typeface="Arial"/>
              </a:rPr>
              <a:t>Observe</a:t>
            </a:r>
          </a:p>
          <a:p>
            <a:pPr algn="l">
              <a:spcAft>
                <a:spcPts val="200"/>
              </a:spcAft>
            </a:pPr>
            <a:r>
              <a:rPr sz="1200" b="0">
                <a:solidFill>
                  <a:srgbClr val="161B26"/>
                </a:solidFill>
                <a:latin typeface="Arial"/>
              </a:rPr>
              <a:t>The tool result re-enters the context and the loop repeats until done.</a:t>
            </a:r>
          </a:p>
        </p:txBody>
      </p:sp>
      <p:sp>
        <p:nvSpPr>
          <p:cNvPr id="20" name="TextBox 19"/>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1" name="TextBox 20"/>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FOUR PRIMITIVES · EVERY FRAMEWORK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Anatomy of an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gent_anatomy.png"/>
          <p:cNvPicPr>
            <a:picLocks noChangeAspect="1"/>
          </p:cNvPicPr>
          <p:nvPr/>
        </p:nvPicPr>
        <p:blipFill>
          <a:blip r:embed="rId2"/>
          <a:stretch>
            <a:fillRect/>
          </a:stretch>
        </p:blipFill>
        <p:spPr>
          <a:xfrm>
            <a:off x="777240" y="2300751"/>
            <a:ext cx="6400800" cy="3308058"/>
          </a:xfrm>
          <a:prstGeom prst="rect">
            <a:avLst/>
          </a:prstGeom>
        </p:spPr>
      </p:pic>
      <p:sp>
        <p:nvSpPr>
          <p:cNvPr id="8" name="Rectangle 7"/>
          <p:cNvSpPr/>
          <p:nvPr/>
        </p:nvSpPr>
        <p:spPr>
          <a:xfrm>
            <a:off x="7498080" y="178308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8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54112" y="1783080"/>
            <a:ext cx="3456432" cy="948690"/>
          </a:xfrm>
          <a:prstGeom prst="rect">
            <a:avLst/>
          </a:prstGeom>
          <a:noFill/>
        </p:spPr>
        <p:txBody>
          <a:bodyPr wrap="square" anchor="ctr">
            <a:spAutoFit/>
          </a:bodyPr>
          <a:lstStyle/>
          <a:p>
            <a:pPr algn="l">
              <a:spcAft>
                <a:spcPts val="200"/>
              </a:spcAft>
            </a:pPr>
            <a:r>
              <a:rPr sz="1400" b="1">
                <a:solidFill>
                  <a:srgbClr val="1F6FEB"/>
                </a:solidFill>
                <a:latin typeface="Arial"/>
              </a:rPr>
              <a:t>LLM</a:t>
            </a:r>
          </a:p>
          <a:p>
            <a:pPr algn="l">
              <a:spcAft>
                <a:spcPts val="200"/>
              </a:spcAft>
            </a:pPr>
            <a:r>
              <a:rPr sz="1200" b="0">
                <a:solidFill>
                  <a:srgbClr val="161B26"/>
                </a:solidFill>
                <a:latin typeface="Arial"/>
              </a:rPr>
              <a:t>The reasoning engine — gpt-4.1-mini, Gemini, or any OpenAI-compatible model.</a:t>
            </a:r>
          </a:p>
        </p:txBody>
      </p:sp>
      <p:sp>
        <p:nvSpPr>
          <p:cNvPr id="11" name="Rectangle 10"/>
          <p:cNvSpPr/>
          <p:nvPr/>
        </p:nvSpPr>
        <p:spPr>
          <a:xfrm>
            <a:off x="7498080" y="291465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54112" y="2914650"/>
            <a:ext cx="3456432" cy="948690"/>
          </a:xfrm>
          <a:prstGeom prst="rect">
            <a:avLst/>
          </a:prstGeom>
          <a:noFill/>
        </p:spPr>
        <p:txBody>
          <a:bodyPr wrap="square" anchor="ctr">
            <a:spAutoFit/>
          </a:bodyPr>
          <a:lstStyle/>
          <a:p>
            <a:pPr algn="l">
              <a:spcAft>
                <a:spcPts val="200"/>
              </a:spcAft>
            </a:pPr>
            <a:r>
              <a:rPr sz="1400" b="1">
                <a:solidFill>
                  <a:srgbClr val="10B981"/>
                </a:solidFill>
                <a:latin typeface="Arial"/>
              </a:rPr>
              <a:t>Instructions</a:t>
            </a:r>
          </a:p>
          <a:p>
            <a:pPr algn="l">
              <a:spcAft>
                <a:spcPts val="200"/>
              </a:spcAft>
            </a:pPr>
            <a:r>
              <a:rPr sz="1200" b="0">
                <a:solidFill>
                  <a:srgbClr val="161B26"/>
                </a:solidFill>
                <a:latin typeface="Arial"/>
              </a:rPr>
              <a:t>Role, goal, tone and hard limits. This is your primary control surface.</a:t>
            </a:r>
          </a:p>
        </p:txBody>
      </p:sp>
      <p:sp>
        <p:nvSpPr>
          <p:cNvPr id="14" name="Rectangle 13"/>
          <p:cNvSpPr/>
          <p:nvPr/>
        </p:nvSpPr>
        <p:spPr>
          <a:xfrm>
            <a:off x="7498080" y="404622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8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54112" y="4046220"/>
            <a:ext cx="3456432" cy="948690"/>
          </a:xfrm>
          <a:prstGeom prst="rect">
            <a:avLst/>
          </a:prstGeom>
          <a:noFill/>
        </p:spPr>
        <p:txBody>
          <a:bodyPr wrap="square" anchor="ctr">
            <a:spAutoFit/>
          </a:bodyPr>
          <a:lstStyle/>
          <a:p>
            <a:pPr algn="l">
              <a:spcAft>
                <a:spcPts val="200"/>
              </a:spcAft>
            </a:pPr>
            <a:r>
              <a:rPr sz="1400" b="1">
                <a:solidFill>
                  <a:srgbClr val="7C3AED"/>
                </a:solidFill>
                <a:latin typeface="Arial"/>
              </a:rPr>
              <a:t>Tools</a:t>
            </a:r>
          </a:p>
          <a:p>
            <a:pPr algn="l">
              <a:spcAft>
                <a:spcPts val="200"/>
              </a:spcAft>
            </a:pPr>
            <a:r>
              <a:rPr sz="1200" b="0">
                <a:solidFill>
                  <a:srgbClr val="161B26"/>
                </a:solidFill>
                <a:latin typeface="Arial"/>
              </a:rPr>
              <a:t>The functions it may call. The docstring is what the model reads to choose.</a:t>
            </a:r>
          </a:p>
        </p:txBody>
      </p:sp>
      <p:sp>
        <p:nvSpPr>
          <p:cNvPr id="17" name="Rectangle 16"/>
          <p:cNvSpPr/>
          <p:nvPr/>
        </p:nvSpPr>
        <p:spPr>
          <a:xfrm>
            <a:off x="7498080" y="517779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9808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54112" y="5177790"/>
            <a:ext cx="3456432" cy="948690"/>
          </a:xfrm>
          <a:prstGeom prst="rect">
            <a:avLst/>
          </a:prstGeom>
          <a:noFill/>
        </p:spPr>
        <p:txBody>
          <a:bodyPr wrap="square" anchor="ctr">
            <a:spAutoFit/>
          </a:bodyPr>
          <a:lstStyle/>
          <a:p>
            <a:pPr algn="l">
              <a:spcAft>
                <a:spcPts val="200"/>
              </a:spcAft>
            </a:pPr>
            <a:r>
              <a:rPr sz="1400" b="1">
                <a:solidFill>
                  <a:srgbClr val="F59E0B"/>
                </a:solidFill>
                <a:latin typeface="Arial"/>
              </a:rPr>
              <a:t>Memory</a:t>
            </a:r>
          </a:p>
          <a:p>
            <a:pPr algn="l">
              <a:spcAft>
                <a:spcPts val="200"/>
              </a:spcAft>
            </a:pPr>
            <a:r>
              <a:rPr sz="1200" b="0">
                <a:solidFill>
                  <a:srgbClr val="161B26"/>
                </a:solidFill>
                <a:latin typeface="Arial"/>
              </a:rPr>
              <a:t>Session state and history so the agent knows what already happened.</a:t>
            </a:r>
          </a:p>
        </p:txBody>
      </p:sp>
      <p:sp>
        <p:nvSpPr>
          <p:cNvPr id="20" name="TextBox 19"/>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1" name="TextBox 20"/>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LU1 · T1 — INTRODUCTION TO THE FRAMEWORKS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Agentic AI Frameworks — the Landscape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CrewAI</a:t>
            </a:r>
          </a:p>
          <a:p>
            <a:pPr algn="l">
              <a:spcAft>
                <a:spcPts val="300"/>
              </a:spcAft>
            </a:pPr>
            <a:r>
              <a:rPr sz="1100" b="0">
                <a:solidFill>
                  <a:srgbClr val="5B6372"/>
                </a:solidFill>
                <a:latin typeface="Arial"/>
              </a:rPr>
              <a:t>Role-based crews. Declarative agents with a role, goal and backstory collaborating on tasks.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Microsoft AutoGen</a:t>
            </a:r>
          </a:p>
          <a:p>
            <a:pPr algn="l">
              <a:spcAft>
                <a:spcPts val="300"/>
              </a:spcAft>
            </a:pPr>
            <a:r>
              <a:rPr sz="1100" b="0">
                <a:solidFill>
                  <a:srgbClr val="5B6372"/>
                </a:solidFill>
                <a:latin typeface="Arial"/>
              </a:rPr>
              <a:t>Conversational multi-agent teams with first-class human-in-the-loop support.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OpenAI Agents SDK / ADK</a:t>
            </a:r>
          </a:p>
          <a:p>
            <a:pPr algn="l">
              <a:spcAft>
                <a:spcPts val="300"/>
              </a:spcAft>
            </a:pPr>
            <a:r>
              <a:rPr sz="1100" b="0">
                <a:solidFill>
                  <a:srgbClr val="5B6372"/>
                </a:solidFill>
                <a:latin typeface="Arial"/>
              </a:rPr>
              <a:t>Lightweight and production-oriented: Agent, Runner, function tools, handoffs, guardrails.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LangGraph</a:t>
            </a:r>
          </a:p>
          <a:p>
            <a:pPr algn="l">
              <a:spcAft>
                <a:spcPts val="300"/>
              </a:spcAft>
            </a:pPr>
            <a:r>
              <a:rPr sz="1100" b="0">
                <a:solidFill>
                  <a:srgbClr val="5B6372"/>
                </a:solidFill>
                <a:latin typeface="Arial"/>
              </a:rPr>
              <a:t>Graph-based state machines for workflows needing explicit, inspectable control flow.</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Google ADK</a:t>
            </a:r>
          </a:p>
          <a:p>
            <a:pPr algn="l">
              <a:spcAft>
                <a:spcPts val="300"/>
              </a:spcAft>
            </a:pPr>
            <a:r>
              <a:rPr sz="1100" b="0">
                <a:solidFill>
                  <a:srgbClr val="5B6372"/>
                </a:solidFill>
                <a:latin typeface="Arial"/>
              </a:rPr>
              <a:t>Agent Development Kit for building and deploying agents on Google Cloud / Vertex AI.</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Common ground</a:t>
            </a:r>
          </a:p>
          <a:p>
            <a:pPr algn="l">
              <a:spcAft>
                <a:spcPts val="300"/>
              </a:spcAft>
            </a:pPr>
            <a:r>
              <a:rPr sz="1100" b="0">
                <a:solidFill>
                  <a:srgbClr val="5B6372"/>
                </a:solidFill>
                <a:latin typeface="Arial"/>
              </a:rPr>
              <a:t>All of them wrap the same loop — pick for orchestration style and ecosystem, not hype.</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HOW THEY DIFFER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Three Frameworks, Three Orchestration Styles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ramework_compare.png"/>
          <p:cNvPicPr>
            <a:picLocks noChangeAspect="1"/>
          </p:cNvPicPr>
          <p:nvPr/>
        </p:nvPicPr>
        <p:blipFill>
          <a:blip r:embed="rId2"/>
          <a:stretch>
            <a:fillRect/>
          </a:stretch>
        </p:blipFill>
        <p:spPr>
          <a:xfrm>
            <a:off x="2058714" y="1737360"/>
            <a:ext cx="8074267" cy="3977639"/>
          </a:xfrm>
          <a:prstGeom prst="rect">
            <a:avLst/>
          </a:prstGeom>
        </p:spPr>
      </p:pic>
      <p:sp>
        <p:nvSpPr>
          <p:cNvPr id="8" name="Rectangle 7"/>
          <p:cNvSpPr/>
          <p:nvPr/>
        </p:nvSpPr>
        <p:spPr>
          <a:xfrm>
            <a:off x="777240" y="5760720"/>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5760720"/>
            <a:ext cx="10241280" cy="566928"/>
          </a:xfrm>
          <a:prstGeom prst="rect">
            <a:avLst/>
          </a:prstGeom>
          <a:noFill/>
        </p:spPr>
        <p:txBody>
          <a:bodyPr wrap="square" anchor="ctr">
            <a:spAutoFit/>
          </a:bodyPr>
          <a:lstStyle/>
          <a:p>
            <a:pPr algn="l">
              <a:spcAft>
                <a:spcPts val="400"/>
              </a:spcAft>
            </a:pPr>
            <a:r>
              <a:rPr sz="1400" b="0">
                <a:solidFill>
                  <a:srgbClr val="161B26"/>
                </a:solidFill>
                <a:latin typeface="Arial"/>
              </a:rPr>
              <a:t>CrewAI models a team by ROLE.  AutoGen models work as a CONVERSATION.  The OpenAI Agents SDK models it as HANDOFFS and agents-as-tools.</a:t>
            </a:r>
          </a:p>
        </p:txBody>
      </p:sp>
      <p:sp>
        <p:nvSpPr>
          <p:cNvPr id="10" name="TextBox 9"/>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1" name="TextBox 10"/>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LU1 · T1 — DECISION TABLE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Choosing a Framework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658618" cy="60742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439162" cy="607422"/>
          </a:xfrm>
          <a:prstGeom prst="rect">
            <a:avLst/>
          </a:prstGeom>
          <a:noFill/>
        </p:spPr>
        <p:txBody>
          <a:bodyPr wrap="square" anchor="ctr">
            <a:spAutoFit/>
          </a:bodyPr>
          <a:lstStyle/>
          <a:p>
            <a:pPr algn="l">
              <a:spcAft>
                <a:spcPts val="400"/>
              </a:spcAft>
            </a:pPr>
            <a:r>
              <a:rPr sz="1200" b="1">
                <a:solidFill>
                  <a:srgbClr val="FFFFFF"/>
                </a:solidFill>
                <a:latin typeface="Arial"/>
              </a:rPr>
              <a:t>Criterion</a:t>
            </a:r>
          </a:p>
        </p:txBody>
      </p:sp>
      <p:sp>
        <p:nvSpPr>
          <p:cNvPr id="9" name="Rectangle 8"/>
          <p:cNvSpPr/>
          <p:nvPr/>
        </p:nvSpPr>
        <p:spPr>
          <a:xfrm>
            <a:off x="3435858" y="1783080"/>
            <a:ext cx="2658618" cy="60742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3874" y="1783080"/>
            <a:ext cx="2439162" cy="607422"/>
          </a:xfrm>
          <a:prstGeom prst="rect">
            <a:avLst/>
          </a:prstGeom>
          <a:noFill/>
        </p:spPr>
        <p:txBody>
          <a:bodyPr wrap="square" anchor="ctr">
            <a:spAutoFit/>
          </a:bodyPr>
          <a:lstStyle/>
          <a:p>
            <a:pPr algn="l">
              <a:spcAft>
                <a:spcPts val="400"/>
              </a:spcAft>
            </a:pPr>
            <a:r>
              <a:rPr sz="1200" b="1">
                <a:solidFill>
                  <a:srgbClr val="FFFFFF"/>
                </a:solidFill>
                <a:latin typeface="Arial"/>
              </a:rPr>
              <a:t>CrewAI</a:t>
            </a:r>
          </a:p>
        </p:txBody>
      </p:sp>
      <p:sp>
        <p:nvSpPr>
          <p:cNvPr id="11" name="Rectangle 10"/>
          <p:cNvSpPr/>
          <p:nvPr/>
        </p:nvSpPr>
        <p:spPr>
          <a:xfrm>
            <a:off x="6094476" y="1783080"/>
            <a:ext cx="2658618" cy="60742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22492" y="1783080"/>
            <a:ext cx="2439162" cy="607422"/>
          </a:xfrm>
          <a:prstGeom prst="rect">
            <a:avLst/>
          </a:prstGeom>
          <a:noFill/>
        </p:spPr>
        <p:txBody>
          <a:bodyPr wrap="square" anchor="ctr">
            <a:spAutoFit/>
          </a:bodyPr>
          <a:lstStyle/>
          <a:p>
            <a:pPr algn="l">
              <a:spcAft>
                <a:spcPts val="400"/>
              </a:spcAft>
            </a:pPr>
            <a:r>
              <a:rPr sz="1200" b="1">
                <a:solidFill>
                  <a:srgbClr val="FFFFFF"/>
                </a:solidFill>
                <a:latin typeface="Arial"/>
              </a:rPr>
              <a:t>AutoGen</a:t>
            </a:r>
          </a:p>
        </p:txBody>
      </p:sp>
      <p:sp>
        <p:nvSpPr>
          <p:cNvPr id="13" name="Rectangle 12"/>
          <p:cNvSpPr/>
          <p:nvPr/>
        </p:nvSpPr>
        <p:spPr>
          <a:xfrm>
            <a:off x="8753094" y="1783080"/>
            <a:ext cx="2658618" cy="60742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81110" y="1783080"/>
            <a:ext cx="2439162" cy="607422"/>
          </a:xfrm>
          <a:prstGeom prst="rect">
            <a:avLst/>
          </a:prstGeom>
          <a:noFill/>
        </p:spPr>
        <p:txBody>
          <a:bodyPr wrap="square" anchor="ctr">
            <a:spAutoFit/>
          </a:bodyPr>
          <a:lstStyle/>
          <a:p>
            <a:pPr algn="l">
              <a:spcAft>
                <a:spcPts val="400"/>
              </a:spcAft>
            </a:pPr>
            <a:r>
              <a:rPr sz="1200" b="1">
                <a:solidFill>
                  <a:srgbClr val="FFFFFF"/>
                </a:solidFill>
                <a:latin typeface="Arial"/>
              </a:rPr>
              <a:t>OpenAI Agents SDK</a:t>
            </a:r>
          </a:p>
        </p:txBody>
      </p:sp>
      <p:sp>
        <p:nvSpPr>
          <p:cNvPr id="15" name="Rectangle 14"/>
          <p:cNvSpPr/>
          <p:nvPr/>
        </p:nvSpPr>
        <p:spPr>
          <a:xfrm>
            <a:off x="777240" y="2390502"/>
            <a:ext cx="2658618" cy="60742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390502"/>
            <a:ext cx="2439162" cy="607422"/>
          </a:xfrm>
          <a:prstGeom prst="rect">
            <a:avLst/>
          </a:prstGeom>
          <a:noFill/>
        </p:spPr>
        <p:txBody>
          <a:bodyPr wrap="square" anchor="ctr">
            <a:spAutoFit/>
          </a:bodyPr>
          <a:lstStyle/>
          <a:p>
            <a:pPr algn="l">
              <a:spcAft>
                <a:spcPts val="400"/>
              </a:spcAft>
            </a:pPr>
            <a:r>
              <a:rPr sz="1100" b="1">
                <a:solidFill>
                  <a:srgbClr val="161B26"/>
                </a:solidFill>
                <a:latin typeface="Arial"/>
              </a:rPr>
              <a:t>Mental model</a:t>
            </a:r>
          </a:p>
        </p:txBody>
      </p:sp>
      <p:sp>
        <p:nvSpPr>
          <p:cNvPr id="17" name="Rectangle 16"/>
          <p:cNvSpPr/>
          <p:nvPr/>
        </p:nvSpPr>
        <p:spPr>
          <a:xfrm>
            <a:off x="3435858" y="2390502"/>
            <a:ext cx="2658618" cy="60742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3874" y="2390502"/>
            <a:ext cx="2439162" cy="607422"/>
          </a:xfrm>
          <a:prstGeom prst="rect">
            <a:avLst/>
          </a:prstGeom>
          <a:noFill/>
        </p:spPr>
        <p:txBody>
          <a:bodyPr wrap="square" anchor="ctr">
            <a:spAutoFit/>
          </a:bodyPr>
          <a:lstStyle/>
          <a:p>
            <a:pPr algn="l">
              <a:spcAft>
                <a:spcPts val="400"/>
              </a:spcAft>
            </a:pPr>
            <a:r>
              <a:rPr sz="1100" b="0">
                <a:solidFill>
                  <a:srgbClr val="161B26"/>
                </a:solidFill>
                <a:latin typeface="Arial"/>
              </a:rPr>
              <a:t>Role-based crew</a:t>
            </a:r>
          </a:p>
        </p:txBody>
      </p:sp>
      <p:sp>
        <p:nvSpPr>
          <p:cNvPr id="19" name="Rectangle 18"/>
          <p:cNvSpPr/>
          <p:nvPr/>
        </p:nvSpPr>
        <p:spPr>
          <a:xfrm>
            <a:off x="6094476" y="2390502"/>
            <a:ext cx="2658618" cy="60742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22492" y="2390502"/>
            <a:ext cx="2439162" cy="607422"/>
          </a:xfrm>
          <a:prstGeom prst="rect">
            <a:avLst/>
          </a:prstGeom>
          <a:noFill/>
        </p:spPr>
        <p:txBody>
          <a:bodyPr wrap="square" anchor="ctr">
            <a:spAutoFit/>
          </a:bodyPr>
          <a:lstStyle/>
          <a:p>
            <a:pPr algn="l">
              <a:spcAft>
                <a:spcPts val="400"/>
              </a:spcAft>
            </a:pPr>
            <a:r>
              <a:rPr sz="1100" b="0">
                <a:solidFill>
                  <a:srgbClr val="161B26"/>
                </a:solidFill>
                <a:latin typeface="Arial"/>
              </a:rPr>
              <a:t>Agent conversation</a:t>
            </a:r>
          </a:p>
        </p:txBody>
      </p:sp>
      <p:sp>
        <p:nvSpPr>
          <p:cNvPr id="21" name="Rectangle 20"/>
          <p:cNvSpPr/>
          <p:nvPr/>
        </p:nvSpPr>
        <p:spPr>
          <a:xfrm>
            <a:off x="8753094" y="2390502"/>
            <a:ext cx="2658618" cy="60742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81110" y="2390502"/>
            <a:ext cx="2439162" cy="607422"/>
          </a:xfrm>
          <a:prstGeom prst="rect">
            <a:avLst/>
          </a:prstGeom>
          <a:noFill/>
        </p:spPr>
        <p:txBody>
          <a:bodyPr wrap="square" anchor="ctr">
            <a:spAutoFit/>
          </a:bodyPr>
          <a:lstStyle/>
          <a:p>
            <a:pPr algn="l">
              <a:spcAft>
                <a:spcPts val="400"/>
              </a:spcAft>
            </a:pPr>
            <a:r>
              <a:rPr sz="1100" b="0">
                <a:solidFill>
                  <a:srgbClr val="161B26"/>
                </a:solidFill>
                <a:latin typeface="Arial"/>
              </a:rPr>
              <a:t>Handoffs + tools</a:t>
            </a:r>
          </a:p>
        </p:txBody>
      </p:sp>
      <p:sp>
        <p:nvSpPr>
          <p:cNvPr id="23" name="Rectangle 22"/>
          <p:cNvSpPr/>
          <p:nvPr/>
        </p:nvSpPr>
        <p:spPr>
          <a:xfrm>
            <a:off x="777240" y="2997924"/>
            <a:ext cx="2658618" cy="60742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997924"/>
            <a:ext cx="2439162" cy="607422"/>
          </a:xfrm>
          <a:prstGeom prst="rect">
            <a:avLst/>
          </a:prstGeom>
          <a:noFill/>
        </p:spPr>
        <p:txBody>
          <a:bodyPr wrap="square" anchor="ctr">
            <a:spAutoFit/>
          </a:bodyPr>
          <a:lstStyle/>
          <a:p>
            <a:pPr algn="l">
              <a:spcAft>
                <a:spcPts val="400"/>
              </a:spcAft>
            </a:pPr>
            <a:r>
              <a:rPr sz="1100" b="1">
                <a:solidFill>
                  <a:srgbClr val="161B26"/>
                </a:solidFill>
                <a:latin typeface="Arial"/>
              </a:rPr>
              <a:t>Best for</a:t>
            </a:r>
          </a:p>
        </p:txBody>
      </p:sp>
      <p:sp>
        <p:nvSpPr>
          <p:cNvPr id="25" name="Rectangle 24"/>
          <p:cNvSpPr/>
          <p:nvPr/>
        </p:nvSpPr>
        <p:spPr>
          <a:xfrm>
            <a:off x="3435858" y="2997924"/>
            <a:ext cx="2658618" cy="60742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63874" y="2997924"/>
            <a:ext cx="2439162" cy="607422"/>
          </a:xfrm>
          <a:prstGeom prst="rect">
            <a:avLst/>
          </a:prstGeom>
          <a:noFill/>
        </p:spPr>
        <p:txBody>
          <a:bodyPr wrap="square" anchor="ctr">
            <a:spAutoFit/>
          </a:bodyPr>
          <a:lstStyle/>
          <a:p>
            <a:pPr algn="l">
              <a:spcAft>
                <a:spcPts val="400"/>
              </a:spcAft>
            </a:pPr>
            <a:r>
              <a:rPr sz="1100" b="0">
                <a:solidFill>
                  <a:srgbClr val="161B26"/>
                </a:solidFill>
                <a:latin typeface="Arial"/>
              </a:rPr>
              <a:t>Process-shaped work</a:t>
            </a:r>
          </a:p>
        </p:txBody>
      </p:sp>
      <p:sp>
        <p:nvSpPr>
          <p:cNvPr id="27" name="Rectangle 26"/>
          <p:cNvSpPr/>
          <p:nvPr/>
        </p:nvSpPr>
        <p:spPr>
          <a:xfrm>
            <a:off x="6094476" y="2997924"/>
            <a:ext cx="2658618" cy="60742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22492" y="2997924"/>
            <a:ext cx="2439162" cy="607422"/>
          </a:xfrm>
          <a:prstGeom prst="rect">
            <a:avLst/>
          </a:prstGeom>
          <a:noFill/>
        </p:spPr>
        <p:txBody>
          <a:bodyPr wrap="square" anchor="ctr">
            <a:spAutoFit/>
          </a:bodyPr>
          <a:lstStyle/>
          <a:p>
            <a:pPr algn="l">
              <a:spcAft>
                <a:spcPts val="400"/>
              </a:spcAft>
            </a:pPr>
            <a:r>
              <a:rPr sz="1100" b="0">
                <a:solidFill>
                  <a:srgbClr val="161B26"/>
                </a:solidFill>
                <a:latin typeface="Arial"/>
              </a:rPr>
              <a:t>Debate, review, critique</a:t>
            </a:r>
          </a:p>
        </p:txBody>
      </p:sp>
      <p:sp>
        <p:nvSpPr>
          <p:cNvPr id="29" name="Rectangle 28"/>
          <p:cNvSpPr/>
          <p:nvPr/>
        </p:nvSpPr>
        <p:spPr>
          <a:xfrm>
            <a:off x="8753094" y="2997924"/>
            <a:ext cx="2658618" cy="60742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81110" y="2997924"/>
            <a:ext cx="2439162" cy="607422"/>
          </a:xfrm>
          <a:prstGeom prst="rect">
            <a:avLst/>
          </a:prstGeom>
          <a:noFill/>
        </p:spPr>
        <p:txBody>
          <a:bodyPr wrap="square" anchor="ctr">
            <a:spAutoFit/>
          </a:bodyPr>
          <a:lstStyle/>
          <a:p>
            <a:pPr algn="l">
              <a:spcAft>
                <a:spcPts val="400"/>
              </a:spcAft>
            </a:pPr>
            <a:r>
              <a:rPr sz="1100" b="0">
                <a:solidFill>
                  <a:srgbClr val="161B26"/>
                </a:solidFill>
                <a:latin typeface="Arial"/>
              </a:rPr>
              <a:t>Production apps &amp; APIs</a:t>
            </a:r>
          </a:p>
        </p:txBody>
      </p:sp>
      <p:sp>
        <p:nvSpPr>
          <p:cNvPr id="31" name="Rectangle 30"/>
          <p:cNvSpPr/>
          <p:nvPr/>
        </p:nvSpPr>
        <p:spPr>
          <a:xfrm>
            <a:off x="777240" y="3605346"/>
            <a:ext cx="2658618" cy="60742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605346"/>
            <a:ext cx="2439162" cy="607422"/>
          </a:xfrm>
          <a:prstGeom prst="rect">
            <a:avLst/>
          </a:prstGeom>
          <a:noFill/>
        </p:spPr>
        <p:txBody>
          <a:bodyPr wrap="square" anchor="ctr">
            <a:spAutoFit/>
          </a:bodyPr>
          <a:lstStyle/>
          <a:p>
            <a:pPr algn="l">
              <a:spcAft>
                <a:spcPts val="400"/>
              </a:spcAft>
            </a:pPr>
            <a:r>
              <a:rPr sz="1100" b="1">
                <a:solidFill>
                  <a:srgbClr val="161B26"/>
                </a:solidFill>
                <a:latin typeface="Arial"/>
              </a:rPr>
              <a:t>Human-in-the-loop</a:t>
            </a:r>
          </a:p>
        </p:txBody>
      </p:sp>
      <p:sp>
        <p:nvSpPr>
          <p:cNvPr id="33" name="Rectangle 32"/>
          <p:cNvSpPr/>
          <p:nvPr/>
        </p:nvSpPr>
        <p:spPr>
          <a:xfrm>
            <a:off x="3435858" y="3605346"/>
            <a:ext cx="2658618" cy="60742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63874" y="3605346"/>
            <a:ext cx="2439162" cy="607422"/>
          </a:xfrm>
          <a:prstGeom prst="rect">
            <a:avLst/>
          </a:prstGeom>
          <a:noFill/>
        </p:spPr>
        <p:txBody>
          <a:bodyPr wrap="square" anchor="ctr">
            <a:spAutoFit/>
          </a:bodyPr>
          <a:lstStyle/>
          <a:p>
            <a:pPr algn="l">
              <a:spcAft>
                <a:spcPts val="400"/>
              </a:spcAft>
            </a:pPr>
            <a:r>
              <a:rPr sz="1100" b="0">
                <a:solidFill>
                  <a:srgbClr val="161B26"/>
                </a:solidFill>
                <a:latin typeface="Arial"/>
              </a:rPr>
              <a:t>Limited</a:t>
            </a:r>
          </a:p>
        </p:txBody>
      </p:sp>
      <p:sp>
        <p:nvSpPr>
          <p:cNvPr id="35" name="Rectangle 34"/>
          <p:cNvSpPr/>
          <p:nvPr/>
        </p:nvSpPr>
        <p:spPr>
          <a:xfrm>
            <a:off x="6094476" y="3605346"/>
            <a:ext cx="2658618" cy="60742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22492" y="3605346"/>
            <a:ext cx="2439162" cy="607422"/>
          </a:xfrm>
          <a:prstGeom prst="rect">
            <a:avLst/>
          </a:prstGeom>
          <a:noFill/>
        </p:spPr>
        <p:txBody>
          <a:bodyPr wrap="square" anchor="ctr">
            <a:spAutoFit/>
          </a:bodyPr>
          <a:lstStyle/>
          <a:p>
            <a:pPr algn="l">
              <a:spcAft>
                <a:spcPts val="400"/>
              </a:spcAft>
            </a:pPr>
            <a:r>
              <a:rPr sz="1100" b="0">
                <a:solidFill>
                  <a:srgbClr val="161B26"/>
                </a:solidFill>
                <a:latin typeface="Arial"/>
              </a:rPr>
              <a:t>Built in</a:t>
            </a:r>
          </a:p>
        </p:txBody>
      </p:sp>
      <p:sp>
        <p:nvSpPr>
          <p:cNvPr id="37" name="Rectangle 36"/>
          <p:cNvSpPr/>
          <p:nvPr/>
        </p:nvSpPr>
        <p:spPr>
          <a:xfrm>
            <a:off x="8753094" y="3605346"/>
            <a:ext cx="2658618" cy="60742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81110" y="3605346"/>
            <a:ext cx="2439162" cy="607422"/>
          </a:xfrm>
          <a:prstGeom prst="rect">
            <a:avLst/>
          </a:prstGeom>
          <a:noFill/>
        </p:spPr>
        <p:txBody>
          <a:bodyPr wrap="square" anchor="ctr">
            <a:spAutoFit/>
          </a:bodyPr>
          <a:lstStyle/>
          <a:p>
            <a:pPr algn="l">
              <a:spcAft>
                <a:spcPts val="400"/>
              </a:spcAft>
            </a:pPr>
            <a:r>
              <a:rPr sz="1100" b="0">
                <a:solidFill>
                  <a:srgbClr val="161B26"/>
                </a:solidFill>
                <a:latin typeface="Arial"/>
              </a:rPr>
              <a:t>Via guardrails</a:t>
            </a:r>
          </a:p>
        </p:txBody>
      </p:sp>
      <p:sp>
        <p:nvSpPr>
          <p:cNvPr id="39" name="Rectangle 38"/>
          <p:cNvSpPr/>
          <p:nvPr/>
        </p:nvSpPr>
        <p:spPr>
          <a:xfrm>
            <a:off x="777240" y="4212768"/>
            <a:ext cx="2658618" cy="60742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4212768"/>
            <a:ext cx="2439162" cy="607422"/>
          </a:xfrm>
          <a:prstGeom prst="rect">
            <a:avLst/>
          </a:prstGeom>
          <a:noFill/>
        </p:spPr>
        <p:txBody>
          <a:bodyPr wrap="square" anchor="ctr">
            <a:spAutoFit/>
          </a:bodyPr>
          <a:lstStyle/>
          <a:p>
            <a:pPr algn="l">
              <a:spcAft>
                <a:spcPts val="400"/>
              </a:spcAft>
            </a:pPr>
            <a:r>
              <a:rPr sz="1100" b="1">
                <a:solidFill>
                  <a:srgbClr val="161B26"/>
                </a:solidFill>
                <a:latin typeface="Arial"/>
              </a:rPr>
              <a:t>Learning curve</a:t>
            </a:r>
          </a:p>
        </p:txBody>
      </p:sp>
      <p:sp>
        <p:nvSpPr>
          <p:cNvPr id="41" name="Rectangle 40"/>
          <p:cNvSpPr/>
          <p:nvPr/>
        </p:nvSpPr>
        <p:spPr>
          <a:xfrm>
            <a:off x="3435858" y="4212768"/>
            <a:ext cx="2658618" cy="60742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563874" y="4212768"/>
            <a:ext cx="2439162" cy="607422"/>
          </a:xfrm>
          <a:prstGeom prst="rect">
            <a:avLst/>
          </a:prstGeom>
          <a:noFill/>
        </p:spPr>
        <p:txBody>
          <a:bodyPr wrap="square" anchor="ctr">
            <a:spAutoFit/>
          </a:bodyPr>
          <a:lstStyle/>
          <a:p>
            <a:pPr algn="l">
              <a:spcAft>
                <a:spcPts val="400"/>
              </a:spcAft>
            </a:pPr>
            <a:r>
              <a:rPr sz="1100" b="0">
                <a:solidFill>
                  <a:srgbClr val="161B26"/>
                </a:solidFill>
                <a:latin typeface="Arial"/>
              </a:rPr>
              <a:t>Low</a:t>
            </a:r>
          </a:p>
        </p:txBody>
      </p:sp>
      <p:sp>
        <p:nvSpPr>
          <p:cNvPr id="43" name="Rectangle 42"/>
          <p:cNvSpPr/>
          <p:nvPr/>
        </p:nvSpPr>
        <p:spPr>
          <a:xfrm>
            <a:off x="6094476" y="4212768"/>
            <a:ext cx="2658618" cy="60742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22492" y="4212768"/>
            <a:ext cx="2439162" cy="607422"/>
          </a:xfrm>
          <a:prstGeom prst="rect">
            <a:avLst/>
          </a:prstGeom>
          <a:noFill/>
        </p:spPr>
        <p:txBody>
          <a:bodyPr wrap="square" anchor="ctr">
            <a:spAutoFit/>
          </a:bodyPr>
          <a:lstStyle/>
          <a:p>
            <a:pPr algn="l">
              <a:spcAft>
                <a:spcPts val="400"/>
              </a:spcAft>
            </a:pPr>
            <a:r>
              <a:rPr sz="1100" b="0">
                <a:solidFill>
                  <a:srgbClr val="161B26"/>
                </a:solidFill>
                <a:latin typeface="Arial"/>
              </a:rPr>
              <a:t>Medium</a:t>
            </a:r>
          </a:p>
        </p:txBody>
      </p:sp>
      <p:sp>
        <p:nvSpPr>
          <p:cNvPr id="45" name="Rectangle 44"/>
          <p:cNvSpPr/>
          <p:nvPr/>
        </p:nvSpPr>
        <p:spPr>
          <a:xfrm>
            <a:off x="8753094" y="4212768"/>
            <a:ext cx="2658618" cy="60742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881110" y="4212768"/>
            <a:ext cx="2439162" cy="607422"/>
          </a:xfrm>
          <a:prstGeom prst="rect">
            <a:avLst/>
          </a:prstGeom>
          <a:noFill/>
        </p:spPr>
        <p:txBody>
          <a:bodyPr wrap="square" anchor="ctr">
            <a:spAutoFit/>
          </a:bodyPr>
          <a:lstStyle/>
          <a:p>
            <a:pPr algn="l">
              <a:spcAft>
                <a:spcPts val="400"/>
              </a:spcAft>
            </a:pPr>
            <a:r>
              <a:rPr sz="1100" b="0">
                <a:solidFill>
                  <a:srgbClr val="161B26"/>
                </a:solidFill>
                <a:latin typeface="Arial"/>
              </a:rPr>
              <a:t>Low</a:t>
            </a:r>
          </a:p>
        </p:txBody>
      </p:sp>
      <p:sp>
        <p:nvSpPr>
          <p:cNvPr id="47" name="Rectangle 46"/>
          <p:cNvSpPr/>
          <p:nvPr/>
        </p:nvSpPr>
        <p:spPr>
          <a:xfrm>
            <a:off x="777240" y="4820190"/>
            <a:ext cx="2658618" cy="60742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820190"/>
            <a:ext cx="2439162" cy="607422"/>
          </a:xfrm>
          <a:prstGeom prst="rect">
            <a:avLst/>
          </a:prstGeom>
          <a:noFill/>
        </p:spPr>
        <p:txBody>
          <a:bodyPr wrap="square" anchor="ctr">
            <a:spAutoFit/>
          </a:bodyPr>
          <a:lstStyle/>
          <a:p>
            <a:pPr algn="l">
              <a:spcAft>
                <a:spcPts val="400"/>
              </a:spcAft>
            </a:pPr>
            <a:r>
              <a:rPr sz="1100" b="1">
                <a:solidFill>
                  <a:srgbClr val="161B26"/>
                </a:solidFill>
                <a:latin typeface="Arial"/>
              </a:rPr>
              <a:t>Multi-model</a:t>
            </a:r>
          </a:p>
        </p:txBody>
      </p:sp>
      <p:sp>
        <p:nvSpPr>
          <p:cNvPr id="49" name="Rectangle 48"/>
          <p:cNvSpPr/>
          <p:nvPr/>
        </p:nvSpPr>
        <p:spPr>
          <a:xfrm>
            <a:off x="3435858" y="4820190"/>
            <a:ext cx="2658618" cy="60742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563874" y="4820190"/>
            <a:ext cx="2439162" cy="607422"/>
          </a:xfrm>
          <a:prstGeom prst="rect">
            <a:avLst/>
          </a:prstGeom>
          <a:noFill/>
        </p:spPr>
        <p:txBody>
          <a:bodyPr wrap="square" anchor="ctr">
            <a:spAutoFit/>
          </a:bodyPr>
          <a:lstStyle/>
          <a:p>
            <a:pPr algn="l">
              <a:spcAft>
                <a:spcPts val="400"/>
              </a:spcAft>
            </a:pPr>
            <a:r>
              <a:rPr sz="1100" b="0">
                <a:solidFill>
                  <a:srgbClr val="161B26"/>
                </a:solidFill>
                <a:latin typeface="Arial"/>
              </a:rPr>
              <a:t>Yes</a:t>
            </a:r>
          </a:p>
        </p:txBody>
      </p:sp>
      <p:sp>
        <p:nvSpPr>
          <p:cNvPr id="51" name="Rectangle 50"/>
          <p:cNvSpPr/>
          <p:nvPr/>
        </p:nvSpPr>
        <p:spPr>
          <a:xfrm>
            <a:off x="6094476" y="4820190"/>
            <a:ext cx="2658618" cy="60742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22492" y="4820190"/>
            <a:ext cx="2439162" cy="607422"/>
          </a:xfrm>
          <a:prstGeom prst="rect">
            <a:avLst/>
          </a:prstGeom>
          <a:noFill/>
        </p:spPr>
        <p:txBody>
          <a:bodyPr wrap="square" anchor="ctr">
            <a:spAutoFit/>
          </a:bodyPr>
          <a:lstStyle/>
          <a:p>
            <a:pPr algn="l">
              <a:spcAft>
                <a:spcPts val="400"/>
              </a:spcAft>
            </a:pPr>
            <a:r>
              <a:rPr sz="1100" b="0">
                <a:solidFill>
                  <a:srgbClr val="161B26"/>
                </a:solidFill>
                <a:latin typeface="Arial"/>
              </a:rPr>
              <a:t>Yes</a:t>
            </a:r>
          </a:p>
        </p:txBody>
      </p:sp>
      <p:sp>
        <p:nvSpPr>
          <p:cNvPr id="53" name="Rectangle 52"/>
          <p:cNvSpPr/>
          <p:nvPr/>
        </p:nvSpPr>
        <p:spPr>
          <a:xfrm>
            <a:off x="8753094" y="4820190"/>
            <a:ext cx="2658618" cy="60742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881110" y="4820190"/>
            <a:ext cx="2439162" cy="607422"/>
          </a:xfrm>
          <a:prstGeom prst="rect">
            <a:avLst/>
          </a:prstGeom>
          <a:noFill/>
        </p:spPr>
        <p:txBody>
          <a:bodyPr wrap="square" anchor="ctr">
            <a:spAutoFit/>
          </a:bodyPr>
          <a:lstStyle/>
          <a:p>
            <a:pPr algn="l">
              <a:spcAft>
                <a:spcPts val="400"/>
              </a:spcAft>
            </a:pPr>
            <a:r>
              <a:rPr sz="1100" b="0">
                <a:solidFill>
                  <a:srgbClr val="161B26"/>
                </a:solidFill>
                <a:latin typeface="Arial"/>
              </a:rPr>
              <a:t>Yes, via base_url</a:t>
            </a:r>
          </a:p>
        </p:txBody>
      </p:sp>
      <p:sp>
        <p:nvSpPr>
          <p:cNvPr id="55" name="Rectangle 54"/>
          <p:cNvSpPr/>
          <p:nvPr/>
        </p:nvSpPr>
        <p:spPr>
          <a:xfrm>
            <a:off x="777240" y="5427612"/>
            <a:ext cx="2658618" cy="60742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5256" y="5427612"/>
            <a:ext cx="2439162" cy="607422"/>
          </a:xfrm>
          <a:prstGeom prst="rect">
            <a:avLst/>
          </a:prstGeom>
          <a:noFill/>
        </p:spPr>
        <p:txBody>
          <a:bodyPr wrap="square" anchor="ctr">
            <a:spAutoFit/>
          </a:bodyPr>
          <a:lstStyle/>
          <a:p>
            <a:pPr algn="l">
              <a:spcAft>
                <a:spcPts val="400"/>
              </a:spcAft>
            </a:pPr>
            <a:r>
              <a:rPr sz="1100" b="1">
                <a:solidFill>
                  <a:srgbClr val="161B26"/>
                </a:solidFill>
                <a:latin typeface="Arial"/>
              </a:rPr>
              <a:t>Structured output</a:t>
            </a:r>
          </a:p>
        </p:txBody>
      </p:sp>
      <p:sp>
        <p:nvSpPr>
          <p:cNvPr id="57" name="Rectangle 56"/>
          <p:cNvSpPr/>
          <p:nvPr/>
        </p:nvSpPr>
        <p:spPr>
          <a:xfrm>
            <a:off x="3435858" y="5427612"/>
            <a:ext cx="2658618" cy="60742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563874" y="5427612"/>
            <a:ext cx="2439162" cy="607422"/>
          </a:xfrm>
          <a:prstGeom prst="rect">
            <a:avLst/>
          </a:prstGeom>
          <a:noFill/>
        </p:spPr>
        <p:txBody>
          <a:bodyPr wrap="square" anchor="ctr">
            <a:spAutoFit/>
          </a:bodyPr>
          <a:lstStyle/>
          <a:p>
            <a:pPr algn="l">
              <a:spcAft>
                <a:spcPts val="400"/>
              </a:spcAft>
            </a:pPr>
            <a:r>
              <a:rPr sz="1100" b="0">
                <a:solidFill>
                  <a:srgbClr val="161B26"/>
                </a:solidFill>
                <a:latin typeface="Arial"/>
              </a:rPr>
              <a:t>Pydantic</a:t>
            </a:r>
          </a:p>
        </p:txBody>
      </p:sp>
      <p:sp>
        <p:nvSpPr>
          <p:cNvPr id="59" name="Rectangle 58"/>
          <p:cNvSpPr/>
          <p:nvPr/>
        </p:nvSpPr>
        <p:spPr>
          <a:xfrm>
            <a:off x="6094476" y="5427612"/>
            <a:ext cx="2658618" cy="60742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22492" y="5427612"/>
            <a:ext cx="2439162" cy="607422"/>
          </a:xfrm>
          <a:prstGeom prst="rect">
            <a:avLst/>
          </a:prstGeom>
          <a:noFill/>
        </p:spPr>
        <p:txBody>
          <a:bodyPr wrap="square" anchor="ctr">
            <a:spAutoFit/>
          </a:bodyPr>
          <a:lstStyle/>
          <a:p>
            <a:pPr algn="l">
              <a:spcAft>
                <a:spcPts val="400"/>
              </a:spcAft>
            </a:pPr>
            <a:r>
              <a:rPr sz="1100" b="0">
                <a:solidFill>
                  <a:srgbClr val="161B26"/>
                </a:solidFill>
                <a:latin typeface="Arial"/>
              </a:rPr>
              <a:t>Pydantic</a:t>
            </a:r>
          </a:p>
        </p:txBody>
      </p:sp>
      <p:sp>
        <p:nvSpPr>
          <p:cNvPr id="61" name="Rectangle 60"/>
          <p:cNvSpPr/>
          <p:nvPr/>
        </p:nvSpPr>
        <p:spPr>
          <a:xfrm>
            <a:off x="8753094" y="5427612"/>
            <a:ext cx="2658618" cy="60742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881110" y="5427612"/>
            <a:ext cx="2439162" cy="607422"/>
          </a:xfrm>
          <a:prstGeom prst="rect">
            <a:avLst/>
          </a:prstGeom>
          <a:noFill/>
        </p:spPr>
        <p:txBody>
          <a:bodyPr wrap="square" anchor="ctr">
            <a:spAutoFit/>
          </a:bodyPr>
          <a:lstStyle/>
          <a:p>
            <a:pPr algn="l">
              <a:spcAft>
                <a:spcPts val="400"/>
              </a:spcAft>
            </a:pPr>
            <a:r>
              <a:rPr sz="1100" b="0">
                <a:solidFill>
                  <a:srgbClr val="161B26"/>
                </a:solidFill>
                <a:latin typeface="Arial"/>
              </a:rPr>
              <a:t>Pydantic output_type</a:t>
            </a:r>
          </a:p>
        </p:txBody>
      </p:sp>
      <p:sp>
        <p:nvSpPr>
          <p:cNvPr id="63" name="TextBox 62"/>
          <p:cNvSpPr txBox="1"/>
          <p:nvPr/>
        </p:nvSpPr>
        <p:spPr>
          <a:xfrm>
            <a:off x="777240" y="6053328"/>
            <a:ext cx="10698480" cy="365760"/>
          </a:xfrm>
          <a:prstGeom prst="rect">
            <a:avLst/>
          </a:prstGeom>
          <a:noFill/>
        </p:spPr>
        <p:txBody>
          <a:bodyPr wrap="square" anchor="t">
            <a:spAutoFit/>
          </a:bodyPr>
          <a:lstStyle/>
          <a:p>
            <a:pPr algn="ctr">
              <a:spcAft>
                <a:spcPts val="400"/>
              </a:spcAft>
            </a:pPr>
            <a:r>
              <a:rPr sz="1300" b="0">
                <a:solidFill>
                  <a:srgbClr val="5B6372"/>
                </a:solidFill>
                <a:latin typeface="Arial"/>
              </a:rPr>
              <a:t>There is no universal winner. Score the frameworks against YOUR requirements — that is Activity 2.</a:t>
            </a:r>
          </a:p>
        </p:txBody>
      </p:sp>
      <p:sp>
        <p:nvSpPr>
          <p:cNvPr id="64" name="TextBox 63"/>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65" name="TextBox 64"/>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6" name="TextBox 6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600" b="1">
                <a:solidFill>
                  <a:srgbClr val="161B26"/>
                </a:solidFill>
                <a:latin typeface="Arial"/>
              </a:rPr>
              <a:t>Activity 1 — Set Up the Agentic AI Development Environment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1  ·  45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Prepare the Python environment every later activity depends on: a virtual environment, the agent frameworks, and the API keys for OpenAI, Tavily and OpenRouter stored safely in a .env file that is never committed to source control.</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Create and activate .venv</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pip install the frameworks</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Get OpenAI + Tavily API keys</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Save keys into .env</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Verify with a version check</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 working .venv with CrewAI, AutoGen, the OpenAI Agents SDK and Streamlit installed, plus a .env holding your API keys.</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Python 3.11+, pip, venv, VS Code, OpenAI Platform, Tavily, OpenRouter</a:t>
            </a:r>
            <a:r>
              <a:rPr sz="1200" b="0">
                <a:solidFill>
                  <a:srgbClr val="5B6372"/>
                </a:solidFill>
                <a:latin typeface="Arial"/>
              </a:rPr>
              <a:t>     ·     Full step-by-step guide: Learner Guide, Activity 1</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400" b="1">
                <a:solidFill>
                  <a:srgbClr val="161B26"/>
                </a:solidFill>
                <a:latin typeface="Arial"/>
              </a:rPr>
              <a:t>Activity 2 — Compare CrewAI, AutoGen and the OpenAI Agents SDK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2  ·  30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Before writing agent code, decide which framework fits a given problem. Score all three frameworks against a real requirement set — orchestration style, human-in-the-loop, tool ecosystem, learning curve and production readiness — and justify a recommendation.</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Write your use-case requirements</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Score each framework 1-5</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Weight the criteria that matter</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Total the scores</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Justify your recommendation</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 completed framework-comparison matrix with a written, evidence-based recommendation for one named use case.</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Framework documentation, comparison matrix template (labs/data/framework_matrix.csv)</a:t>
            </a:r>
            <a:r>
              <a:rPr sz="1200" b="0">
                <a:solidFill>
                  <a:srgbClr val="5B6372"/>
                </a:solidFill>
                <a:latin typeface="Arial"/>
              </a:rPr>
              <a:t>     ·     Full step-by-step guide: Learner Guide, Activity 2</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15 minutes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LU1 · T2 — OVERVIEW OF MULTI-AGENT WORKFLOWS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From One Agent to Many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 single agent has limits</a:t>
            </a:r>
          </a:p>
          <a:p>
            <a:pPr algn="l">
              <a:spcAft>
                <a:spcPts val="300"/>
              </a:spcAft>
            </a:pPr>
            <a:r>
              <a:rPr sz="1100" b="0">
                <a:solidFill>
                  <a:srgbClr val="5B6372"/>
                </a:solidFill>
                <a:latin typeface="Arial"/>
              </a:rPr>
              <a:t>One prompt carrying every instruction becomes long, contradictory and hard to debug.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Specialisation wins</a:t>
            </a:r>
          </a:p>
          <a:p>
            <a:pPr algn="l">
              <a:spcAft>
                <a:spcPts val="300"/>
              </a:spcAft>
            </a:pPr>
            <a:r>
              <a:rPr sz="1100" b="0">
                <a:solidFill>
                  <a:srgbClr val="5B6372"/>
                </a:solidFill>
                <a:latin typeface="Arial"/>
              </a:rPr>
              <a:t>A narrow agent with 2–3 relevant tools outperforms one agent with fifteen.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Separation of concerns</a:t>
            </a:r>
          </a:p>
          <a:p>
            <a:pPr algn="l">
              <a:spcAft>
                <a:spcPts val="300"/>
              </a:spcAft>
            </a:pPr>
            <a:r>
              <a:rPr sz="1100" b="0">
                <a:solidFill>
                  <a:srgbClr val="5B6372"/>
                </a:solidFill>
                <a:latin typeface="Arial"/>
              </a:rPr>
              <a:t>Each agent can be tested, prompted and improved independently.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An orchestrator decides</a:t>
            </a:r>
          </a:p>
          <a:p>
            <a:pPr algn="l">
              <a:spcAft>
                <a:spcPts val="300"/>
              </a:spcAft>
            </a:pPr>
            <a:r>
              <a:rPr sz="1100" b="0">
                <a:solidFill>
                  <a:srgbClr val="5B6372"/>
                </a:solidFill>
                <a:latin typeface="Arial"/>
              </a:rPr>
              <a:t>A coordinating agent routes work to the right specialist at run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Context is the currency</a:t>
            </a:r>
          </a:p>
          <a:p>
            <a:pPr algn="l">
              <a:spcAft>
                <a:spcPts val="300"/>
              </a:spcAft>
            </a:pPr>
            <a:r>
              <a:rPr sz="1100" b="0">
                <a:solidFill>
                  <a:srgbClr val="5B6372"/>
                </a:solidFill>
                <a:latin typeface="Arial"/>
              </a:rPr>
              <a:t>Multi-agent design is really about controlling what each agent sees.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cost is coordination</a:t>
            </a:r>
          </a:p>
          <a:p>
            <a:pPr algn="l">
              <a:spcAft>
                <a:spcPts val="300"/>
              </a:spcAft>
            </a:pPr>
            <a:r>
              <a:rPr sz="1100" b="0">
                <a:solidFill>
                  <a:srgbClr val="5B6372"/>
                </a:solidFill>
                <a:latin typeface="Arial"/>
              </a:rPr>
              <a:t>More agents means more calls, more latency and more ways to fail — justify each one.</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LU1 · T3 — WORKFLOW DESIGN PATTERNS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Four Multi-Agent Orchestration Patterns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orchestration_patterns.png"/>
          <p:cNvPicPr>
            <a:picLocks noChangeAspect="1"/>
          </p:cNvPicPr>
          <p:nvPr/>
        </p:nvPicPr>
        <p:blipFill>
          <a:blip r:embed="rId2"/>
          <a:stretch>
            <a:fillRect/>
          </a:stretch>
        </p:blipFill>
        <p:spPr>
          <a:xfrm>
            <a:off x="792327" y="2289981"/>
            <a:ext cx="10607040" cy="2872397"/>
          </a:xfrm>
          <a:prstGeom prst="rect">
            <a:avLst/>
          </a:prstGeom>
        </p:spPr>
      </p:pic>
      <p:sp>
        <p:nvSpPr>
          <p:cNvPr id="8" name="Rectangle 7"/>
          <p:cNvSpPr/>
          <p:nvPr/>
        </p:nvSpPr>
        <p:spPr>
          <a:xfrm>
            <a:off x="777240" y="5760720"/>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5760720"/>
            <a:ext cx="10241280" cy="566928"/>
          </a:xfrm>
          <a:prstGeom prst="rect">
            <a:avLst/>
          </a:prstGeom>
          <a:noFill/>
        </p:spPr>
        <p:txBody>
          <a:bodyPr wrap="square" anchor="ctr">
            <a:spAutoFit/>
          </a:bodyPr>
          <a:lstStyle/>
          <a:p>
            <a:pPr algn="l">
              <a:spcAft>
                <a:spcPts val="400"/>
              </a:spcAft>
            </a:pPr>
            <a:r>
              <a:rPr sz="1400" b="0">
                <a:solidFill>
                  <a:srgbClr val="161B26"/>
                </a:solidFill>
                <a:latin typeface="Arial"/>
              </a:rPr>
              <a:t>Sequential for pipelines · Router–worker for triage · Parallel fan-out for independent subtasks · Reflection for quality. Most real systems combine two or more.</a:t>
            </a:r>
          </a:p>
        </p:txBody>
      </p:sp>
      <p:sp>
        <p:nvSpPr>
          <p:cNvPr id="10" name="TextBox 9"/>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1" name="TextBox 10"/>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LU1 · T2 — THE DESIGN DECISION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Single-Agent vs Multi-Agent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Simpler is better</a:t>
            </a:r>
          </a:p>
        </p:txBody>
      </p:sp>
      <p:sp>
        <p:nvSpPr>
          <p:cNvPr id="12" name="TextBox 11"/>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Complexity that earns its keep</a:t>
            </a:r>
          </a:p>
        </p:txBody>
      </p:sp>
      <p:sp>
        <p:nvSpPr>
          <p:cNvPr id="13" name="TextBox 12"/>
          <p:cNvSpPr txBox="1"/>
          <p:nvPr/>
        </p:nvSpPr>
        <p:spPr>
          <a:xfrm>
            <a:off x="1005840" y="2468880"/>
            <a:ext cx="4754880" cy="2971800"/>
          </a:xfrm>
          <a:prstGeom prst="rect">
            <a:avLst/>
          </a:prstGeom>
          <a:noFill/>
        </p:spPr>
        <p:txBody>
          <a:bodyPr wrap="square">
            <a:spAutoFit/>
          </a:bodyPr>
          <a:lstStyle/>
          <a:p>
            <a:pPr>
              <a:spcAft>
                <a:spcPts val="1000"/>
              </a:spcAft>
            </a:pPr>
            <a:r>
              <a:rPr sz="1500" b="1">
                <a:solidFill>
                  <a:srgbClr val="161B26"/>
                </a:solidFill>
                <a:latin typeface="Arial"/>
              </a:rPr>
              <a:t>•  Use a SINGLE agent when</a:t>
            </a:r>
          </a:p>
          <a:p>
            <a:pPr>
              <a:spcAft>
                <a:spcPts val="1000"/>
              </a:spcAft>
            </a:pPr>
            <a:r>
              <a:rPr sz="1300" b="0">
                <a:solidFill>
                  <a:srgbClr val="5B6372"/>
                </a:solidFill>
                <a:latin typeface="Arial"/>
              </a:rPr>
              <a:t>–  The task is one coherent job</a:t>
            </a:r>
          </a:p>
          <a:p>
            <a:pPr>
              <a:spcAft>
                <a:spcPts val="1000"/>
              </a:spcAft>
            </a:pPr>
            <a:r>
              <a:rPr sz="1300" b="0">
                <a:solidFill>
                  <a:srgbClr val="5B6372"/>
                </a:solidFill>
                <a:latin typeface="Arial"/>
              </a:rPr>
              <a:t>–  A handful of tools is enough</a:t>
            </a:r>
          </a:p>
          <a:p>
            <a:pPr>
              <a:spcAft>
                <a:spcPts val="1000"/>
              </a:spcAft>
            </a:pPr>
            <a:r>
              <a:rPr sz="1300" b="0">
                <a:solidFill>
                  <a:srgbClr val="5B6372"/>
                </a:solidFill>
                <a:latin typeface="Arial"/>
              </a:rPr>
              <a:t>–  Latency and cost matter most</a:t>
            </a:r>
          </a:p>
          <a:p>
            <a:pPr>
              <a:spcAft>
                <a:spcPts val="1000"/>
              </a:spcAft>
            </a:pPr>
            <a:r>
              <a:rPr sz="1300" b="0">
                <a:solidFill>
                  <a:srgbClr val="5B6372"/>
                </a:solidFill>
                <a:latin typeface="Arial"/>
              </a:rPr>
              <a:t>–  You want the simplest thing that works</a:t>
            </a:r>
          </a:p>
        </p:txBody>
      </p:sp>
      <p:sp>
        <p:nvSpPr>
          <p:cNvPr id="14" name="TextBox 13"/>
          <p:cNvSpPr txBox="1"/>
          <p:nvPr/>
        </p:nvSpPr>
        <p:spPr>
          <a:xfrm>
            <a:off x="6583680" y="2468880"/>
            <a:ext cx="4617720" cy="2971800"/>
          </a:xfrm>
          <a:prstGeom prst="rect">
            <a:avLst/>
          </a:prstGeom>
          <a:noFill/>
        </p:spPr>
        <p:txBody>
          <a:bodyPr wrap="square">
            <a:spAutoFit/>
          </a:bodyPr>
          <a:lstStyle/>
          <a:p>
            <a:pPr>
              <a:spcAft>
                <a:spcPts val="1000"/>
              </a:spcAft>
            </a:pPr>
            <a:r>
              <a:rPr sz="1500" b="1">
                <a:solidFill>
                  <a:srgbClr val="161B26"/>
                </a:solidFill>
                <a:latin typeface="Arial"/>
              </a:rPr>
              <a:t>•  Use MULTI-AGENT when</a:t>
            </a:r>
          </a:p>
          <a:p>
            <a:pPr>
              <a:spcAft>
                <a:spcPts val="1000"/>
              </a:spcAft>
            </a:pPr>
            <a:r>
              <a:rPr sz="1300" b="0">
                <a:solidFill>
                  <a:srgbClr val="5B6372"/>
                </a:solidFill>
                <a:latin typeface="Arial"/>
              </a:rPr>
              <a:t>–  Distinct expertise is genuinely needed</a:t>
            </a:r>
          </a:p>
          <a:p>
            <a:pPr>
              <a:spcAft>
                <a:spcPts val="1000"/>
              </a:spcAft>
            </a:pPr>
            <a:r>
              <a:rPr sz="1300" b="0">
                <a:solidFill>
                  <a:srgbClr val="5B6372"/>
                </a:solidFill>
                <a:latin typeface="Arial"/>
              </a:rPr>
              <a:t>–  Subtasks can run in parallel</a:t>
            </a:r>
          </a:p>
          <a:p>
            <a:pPr>
              <a:spcAft>
                <a:spcPts val="1000"/>
              </a:spcAft>
            </a:pPr>
            <a:r>
              <a:rPr sz="1300" b="0">
                <a:solidFill>
                  <a:srgbClr val="5B6372"/>
                </a:solidFill>
                <a:latin typeface="Arial"/>
              </a:rPr>
              <a:t>–  You need a critic or reviewer role</a:t>
            </a:r>
          </a:p>
          <a:p>
            <a:pPr>
              <a:spcAft>
                <a:spcPts val="1000"/>
              </a:spcAft>
            </a:pPr>
            <a:r>
              <a:rPr sz="1300" b="0">
                <a:solidFill>
                  <a:srgbClr val="5B6372"/>
                </a:solidFill>
                <a:latin typeface="Arial"/>
              </a:rPr>
              <a:t>–  One prompt has become unmaintainable</a:t>
            </a:r>
          </a:p>
        </p:txBody>
      </p:sp>
      <p:sp>
        <p:nvSpPr>
          <p:cNvPr id="15" name="TextBox 14"/>
          <p:cNvSpPr txBox="1"/>
          <p:nvPr/>
        </p:nvSpPr>
        <p:spPr>
          <a:xfrm>
            <a:off x="777240" y="5715000"/>
            <a:ext cx="10698480" cy="548640"/>
          </a:xfrm>
          <a:prstGeom prst="rect">
            <a:avLst/>
          </a:prstGeom>
          <a:noFill/>
        </p:spPr>
        <p:txBody>
          <a:bodyPr wrap="square" anchor="ctr">
            <a:spAutoFit/>
          </a:bodyPr>
          <a:lstStyle/>
          <a:p>
            <a:pPr algn="ctr">
              <a:spcAft>
                <a:spcPts val="400"/>
              </a:spcAft>
            </a:pPr>
            <a:r>
              <a:rPr sz="1300" b="0">
                <a:solidFill>
                  <a:srgbClr val="5B6372"/>
                </a:solidFill>
                <a:latin typeface="Arial"/>
              </a:rPr>
              <a:t>Start single-agent. Split into multiple agents only when you can name the specific problem it solves.</a:t>
            </a:r>
          </a:p>
        </p:txBody>
      </p:sp>
      <p:sp>
        <p:nvSpPr>
          <p:cNvPr id="16" name="TextBox 15"/>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7" name="TextBox 16"/>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LU1 · T3 — AGENTIC AI WORKFLOW DESIGN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Designing an Agentic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1 · Define the goal</a:t>
            </a:r>
          </a:p>
          <a:p>
            <a:pPr algn="l">
              <a:spcAft>
                <a:spcPts val="300"/>
              </a:spcAft>
            </a:pPr>
            <a:r>
              <a:rPr sz="1100" b="0">
                <a:solidFill>
                  <a:srgbClr val="5B6372"/>
                </a:solidFill>
                <a:latin typeface="Arial"/>
              </a:rPr>
              <a:t>State the outcome precisely, including how you will know it succeeded.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2 · Decompose</a:t>
            </a:r>
          </a:p>
          <a:p>
            <a:pPr algn="l">
              <a:spcAft>
                <a:spcPts val="300"/>
              </a:spcAft>
            </a:pPr>
            <a:r>
              <a:rPr sz="1100" b="0">
                <a:solidFill>
                  <a:srgbClr val="5B6372"/>
                </a:solidFill>
                <a:latin typeface="Arial"/>
              </a:rPr>
              <a:t>Break the goal into subtasks a specialist could own end to end.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3 · Assign tools</a:t>
            </a:r>
          </a:p>
          <a:p>
            <a:pPr algn="l">
              <a:spcAft>
                <a:spcPts val="300"/>
              </a:spcAft>
            </a:pPr>
            <a:r>
              <a:rPr sz="1100" b="0">
                <a:solidFill>
                  <a:srgbClr val="5B6372"/>
                </a:solidFill>
                <a:latin typeface="Arial"/>
              </a:rPr>
              <a:t>Give each agent only the tools its subtask needs — nothing more.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4 · Choose the pattern</a:t>
            </a:r>
          </a:p>
          <a:p>
            <a:pPr algn="l">
              <a:spcAft>
                <a:spcPts val="300"/>
              </a:spcAft>
            </a:pPr>
            <a:r>
              <a:rPr sz="1100" b="0">
                <a:solidFill>
                  <a:srgbClr val="5B6372"/>
                </a:solidFill>
                <a:latin typeface="Arial"/>
              </a:rPr>
              <a:t>Sequential, router, parallel or reflection — match it to the dependency shape.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5 · Define handoffs</a:t>
            </a:r>
          </a:p>
          <a:p>
            <a:pPr algn="l">
              <a:spcAft>
                <a:spcPts val="300"/>
              </a:spcAft>
            </a:pPr>
            <a:r>
              <a:rPr sz="1100" b="0">
                <a:solidFill>
                  <a:srgbClr val="5B6372"/>
                </a:solidFill>
                <a:latin typeface="Arial"/>
              </a:rPr>
              <a:t>Specify exactly what data passes between agents, and in what structure.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6 · Add checks</a:t>
            </a:r>
          </a:p>
          <a:p>
            <a:pPr algn="l">
              <a:spcAft>
                <a:spcPts val="300"/>
              </a:spcAft>
            </a:pPr>
            <a:r>
              <a:rPr sz="1100" b="0">
                <a:solidFill>
                  <a:srgbClr val="5B6372"/>
                </a:solidFill>
                <a:latin typeface="Arial"/>
              </a:rPr>
              <a:t>Structured output, validation and a stop condition so it cannot loop forever.</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400" b="1">
                <a:solidFill>
                  <a:srgbClr val="161B26"/>
                </a:solidFill>
                <a:latin typeface="Arial"/>
              </a:rPr>
              <a:t>Activity 3 — Build a Single Agent with Tools (OpenAI Agents SDK)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3  ·  60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Build the course's first working agent: a Streamlit chatbot backed by the OpenAI Agents SDK that can search the live internet with a Tavily function tool. This is labs/app/simple_chat.py and it introduces Agent, Runner, @function_tool and Streamlit session state.</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Define the @function_tool</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Create the Agent with instructions</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Wire Streamlit chat + session state</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Run with Runner.run</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Ask a current-events question</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 running Streamlit chat app whose agent calls a Tavily search tool to answer questions about current events.</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OpenAI Agents SDK, Tavily API, Streamlit, labs/app/simple_chat.py</a:t>
            </a:r>
            <a:r>
              <a:rPr sz="1200" b="0">
                <a:solidFill>
                  <a:srgbClr val="5B6372"/>
                </a:solidFill>
                <a:latin typeface="Arial"/>
              </a:rPr>
              <a:t>     ·     Full step-by-step guide: Learner Guide, Activity 3</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 hour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4 — Build a Role-Based Crew with CrewAI</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4  ·  60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Model a content-production team as a CrewAI crew: a Researcher agent gathers facts and a Writer agent turns them into an article. Each agent gets a role, goal and backstory, and the tasks run in a sequential process where task 2 consumes task 1's output.</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Define Researcher + Writer agents</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Write the two Tasks</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Assemble the Crew (sequential)</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crew.kickoff() with inputs</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Read the handed-off output</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 Python script that runs a two-agent CrewAI crew and prints a finished article on a topic you choose.</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CrewAI, OpenAI API, labs/app/crew_content.py</a:t>
            </a:r>
            <a:r>
              <a:rPr sz="1200" b="0">
                <a:solidFill>
                  <a:srgbClr val="5B6372"/>
                </a:solidFill>
                <a:latin typeface="Arial"/>
              </a:rPr>
              <a:t>     ·     Full step-by-step guide: Learner Guide, Activity 4</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5 — Build a Conversational Team with AutoGen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5  ·  60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Use Microsoft AutoGen to solve a problem through a structured conversation between two agents. A primary assistant proposes a solution and a critic reviews it, looping until the critic approves — the reflection pattern implemented as agent dialogue.</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Create the model client</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Define assistant + critic agents</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Set the termination condition</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RoundRobinGroupChat.run_stream</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Watch the critique loop</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An AutoGen round-robin team where an assistant and a critic iterate on a task until a termination condition fires.</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AutoGen AgentChat, OpenAI API, labs/app/autogen_team.py</a:t>
            </a:r>
            <a:r>
              <a:rPr sz="1200" b="0">
                <a:solidFill>
                  <a:srgbClr val="5B6372"/>
                </a:solidFill>
                <a:latin typeface="Arial"/>
              </a:rPr>
              <a:t>     ·     Full step-by-step guide: Learner Guide, Activity 5</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LU1 · T4 — BUILD AGENTIC AI APPLICATIONS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Building Production Agentic Apps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Structured output</a:t>
            </a:r>
          </a:p>
          <a:p>
            <a:pPr algn="l">
              <a:spcAft>
                <a:spcPts val="300"/>
              </a:spcAft>
            </a:pPr>
            <a:r>
              <a:rPr sz="1100" b="0">
                <a:solidFill>
                  <a:srgbClr val="5B6372"/>
                </a:solidFill>
                <a:latin typeface="Arial"/>
              </a:rPr>
              <a:t>Pydantic models turn free text into data your UI and code can rely 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Tool docstrings are prompts</a:t>
            </a:r>
          </a:p>
          <a:p>
            <a:pPr algn="l">
              <a:spcAft>
                <a:spcPts val="300"/>
              </a:spcAft>
            </a:pPr>
            <a:r>
              <a:rPr sz="1100" b="0">
                <a:solidFill>
                  <a:srgbClr val="5B6372"/>
                </a:solidFill>
                <a:latin typeface="Arial"/>
              </a:rPr>
              <a:t>The description is what the model reads to decide when to call — write it carefully.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Handle failure explicitly</a:t>
            </a:r>
          </a:p>
          <a:p>
            <a:pPr algn="l">
              <a:spcAft>
                <a:spcPts val="300"/>
              </a:spcAft>
            </a:pPr>
            <a:r>
              <a:rPr sz="1100" b="0">
                <a:solidFill>
                  <a:srgbClr val="5B6372"/>
                </a:solidFill>
                <a:latin typeface="Arial"/>
              </a:rPr>
              <a:t>Tools time out and APIs rate-limit. Catch, retry with backoff, and degrade gracefully.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Bound the loop</a:t>
            </a:r>
          </a:p>
          <a:p>
            <a:pPr algn="l">
              <a:spcAft>
                <a:spcPts val="300"/>
              </a:spcAft>
            </a:pPr>
            <a:r>
              <a:rPr sz="1100" b="0">
                <a:solidFill>
                  <a:srgbClr val="5B6372"/>
                </a:solidFill>
                <a:latin typeface="Arial"/>
              </a:rPr>
              <a:t>Always set a maximum number of turns so an agent cannot run indefinitely.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Instrument everything</a:t>
            </a:r>
          </a:p>
          <a:p>
            <a:pPr algn="l">
              <a:spcAft>
                <a:spcPts val="300"/>
              </a:spcAft>
            </a:pPr>
            <a:r>
              <a:rPr sz="1100" b="0">
                <a:solidFill>
                  <a:srgbClr val="5B6372"/>
                </a:solidFill>
                <a:latin typeface="Arial"/>
              </a:rPr>
              <a:t>Log every tool call and decision — you cannot debug what you did not record.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Control the spend</a:t>
            </a:r>
          </a:p>
          <a:p>
            <a:pPr algn="l">
              <a:spcAft>
                <a:spcPts val="300"/>
              </a:spcAft>
            </a:pPr>
            <a:r>
              <a:rPr sz="1100" b="0">
                <a:solidFill>
                  <a:srgbClr val="5B6372"/>
                </a:solidFill>
                <a:latin typeface="Arial"/>
              </a:rPr>
              <a:t>Cache repeated calls and set a hard provider spend limit before you go public.</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400" b="1">
                <a:solidFill>
                  <a:srgbClr val="161B26"/>
                </a:solidFill>
                <a:latin typeface="Arial"/>
              </a:rPr>
              <a:t>Activity 6 — Orchestrate a Multi-Agent Trip Planner (Agents-as-Tools)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6  ·  75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Build the course's flagship multi-agent app: a Streamlit trip planner where an orchestrator delegates to Planner, Budget and Local Guide agents exposed via the .as_tool() pattern, each with its own Tavily search tool and Pydantic-structured output. This is labs/app/trip_planner.py.</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Review the 3 specialist agents</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See .as_tool() delegation</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Note the Pydantic output models</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Run the Streamlit app</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Plan a real trip and read the tabs</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 Streamlit app that produces a day-by-day itinerary, a budget breakdown and local food tips from three specialist agents.</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OpenAI Agents SDK, Tavily API, Pydantic, Streamlit, labs/app/trip_planner.py</a:t>
            </a:r>
            <a:r>
              <a:rPr sz="1200" b="0">
                <a:solidFill>
                  <a:srgbClr val="5B6372"/>
                </a:solidFill>
                <a:latin typeface="Arial"/>
              </a:rPr>
              <a:t>     ·     Full step-by-step guide: Learner Guide, Activity 6</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15 minutes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LU1 · T5 — DEVELOPMENT WITH AI IDES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Development with AI IDEs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GitHub Copilot</a:t>
            </a:r>
          </a:p>
          <a:p>
            <a:pPr algn="l">
              <a:spcAft>
                <a:spcPts val="300"/>
              </a:spcAft>
            </a:pPr>
            <a:r>
              <a:rPr sz="1100" b="0">
                <a:solidFill>
                  <a:srgbClr val="5B6372"/>
                </a:solidFill>
                <a:latin typeface="Arial"/>
              </a:rPr>
              <a:t>Inline completion, chat and multi-file edits inside VS Code and JetBrains.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Cursor</a:t>
            </a:r>
          </a:p>
          <a:p>
            <a:pPr algn="l">
              <a:spcAft>
                <a:spcPts val="300"/>
              </a:spcAft>
            </a:pPr>
            <a:r>
              <a:rPr sz="1100" b="0">
                <a:solidFill>
                  <a:srgbClr val="5B6372"/>
                </a:solidFill>
                <a:latin typeface="Arial"/>
              </a:rPr>
              <a:t>An AI-first fork of VS Code with whole-codebase context and agentic multi-file edits.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Windsurf</a:t>
            </a:r>
          </a:p>
          <a:p>
            <a:pPr algn="l">
              <a:spcAft>
                <a:spcPts val="300"/>
              </a:spcAft>
            </a:pPr>
            <a:r>
              <a:rPr sz="1100" b="0">
                <a:solidFill>
                  <a:srgbClr val="5B6372"/>
                </a:solidFill>
                <a:latin typeface="Arial"/>
              </a:rPr>
              <a:t>Agentic 'flows' that plan and execute changes across files, with fast iteration.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Trae</a:t>
            </a:r>
          </a:p>
          <a:p>
            <a:pPr algn="l">
              <a:spcAft>
                <a:spcPts val="300"/>
              </a:spcAft>
            </a:pPr>
            <a:r>
              <a:rPr sz="1100" b="0">
                <a:solidFill>
                  <a:srgbClr val="5B6372"/>
                </a:solidFill>
                <a:latin typeface="Arial"/>
              </a:rPr>
              <a:t>Autonomous, task-level development — describe the outcome and review the produced diff.</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Where they excel</a:t>
            </a:r>
          </a:p>
          <a:p>
            <a:pPr algn="l">
              <a:spcAft>
                <a:spcPts val="300"/>
              </a:spcAft>
            </a:pPr>
            <a:r>
              <a:rPr sz="1100" b="0">
                <a:solidFill>
                  <a:srgbClr val="5B6372"/>
                </a:solidFill>
                <a:latin typeface="Arial"/>
              </a:rPr>
              <a:t>Boilerplate, tool definitions, tests, refactors and explaining unfamiliar code.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Where you must verify</a:t>
            </a:r>
          </a:p>
          <a:p>
            <a:pPr algn="l">
              <a:spcAft>
                <a:spcPts val="300"/>
              </a:spcAft>
            </a:pPr>
            <a:r>
              <a:rPr sz="1100" b="0">
                <a:solidFill>
                  <a:srgbClr val="5B6372"/>
                </a:solidFill>
                <a:latin typeface="Arial"/>
              </a:rPr>
              <a:t>Hallucinated APIs, outdated SDK syntax, silent logic errors and leaked secrets.</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THE WORKING RULE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AI-assisted, human-verified.</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An AI IDE drafts faster than you can type — but you remain accountable for every line it produces. Read the diff.</a:t>
            </a:r>
          </a:p>
        </p:txBody>
      </p:sp>
      <p:sp>
        <p:nvSpPr>
          <p:cNvPr id="7" name="TextBox 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8" name="TextBox 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7 — Accelerate Agent Development with an AI IDE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7  ·  45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Use an AI IDE — GitHub Copilot, Cursor, Trae or Windsurf — to extend an existing agent. Generate a new function tool from a comment, use the chat panel to explain unfamiliar agent code, and let the IDE diagnose a deliberately broken tool definition.</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Install and sign in to the AI IDE</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Ask chat to explain the agent code</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Comment-driven tool generation</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Review and correct the draft</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Run and confirm the tool fires</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 new, working function tool added to simple_chat.py that was drafted by the AI IDE and verified by you.</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GitHub Copilot / Cursor / Trae / Windsurf, VS Code, labs/app/simple_chat.py</a:t>
            </a:r>
            <a:r>
              <a:rPr sz="1200" b="0">
                <a:solidFill>
                  <a:srgbClr val="5B6372"/>
                </a:solidFill>
                <a:latin typeface="Arial"/>
              </a:rPr>
              <a:t>     ·     Full step-by-step guide: Learner Guide, Activity 7</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LU1 · LEARNING OUTCOME 1 ACHIEVED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Recap — Learning Unit 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You can explain the agentic loop and the four primitives every framework provides.</a:t>
            </a:r>
          </a:p>
          <a:p>
            <a:pPr>
              <a:spcAft>
                <a:spcPts val="1000"/>
              </a:spcAft>
            </a:pPr>
            <a:r>
              <a:rPr sz="1700" b="0">
                <a:solidFill>
                  <a:srgbClr val="161B26"/>
                </a:solidFill>
                <a:latin typeface="Arial"/>
              </a:rPr>
              <a:t>•  You can compare CrewAI, AutoGen and the OpenAI Agents SDK and justify a choice.</a:t>
            </a:r>
          </a:p>
          <a:p>
            <a:pPr>
              <a:spcAft>
                <a:spcPts val="1000"/>
              </a:spcAft>
            </a:pPr>
            <a:r>
              <a:rPr sz="1700" b="0">
                <a:solidFill>
                  <a:srgbClr val="161B26"/>
                </a:solidFill>
                <a:latin typeface="Arial"/>
              </a:rPr>
              <a:t>•  You have built a tool-using agent, a CrewAI crew and an AutoGen conversational team.</a:t>
            </a:r>
          </a:p>
          <a:p>
            <a:pPr>
              <a:spcAft>
                <a:spcPts val="1000"/>
              </a:spcAft>
            </a:pPr>
            <a:r>
              <a:rPr sz="1700" b="0">
                <a:solidFill>
                  <a:srgbClr val="161B26"/>
                </a:solidFill>
                <a:latin typeface="Arial"/>
              </a:rPr>
              <a:t>•  You have orchestrated specialists with the agents-as-tools pattern.</a:t>
            </a:r>
          </a:p>
          <a:p>
            <a:pPr>
              <a:spcAft>
                <a:spcPts val="1000"/>
              </a:spcAft>
            </a:pPr>
            <a:r>
              <a:rPr sz="1700" b="0">
                <a:solidFill>
                  <a:srgbClr val="161B26"/>
                </a:solidFill>
                <a:latin typeface="Arial"/>
              </a:rPr>
              <a:t>•  You can use an AI IDE to accelerate agent development — and verify what it writes.</a:t>
            </a:r>
          </a:p>
        </p:txBody>
      </p:sp>
      <p:sp>
        <p:nvSpPr>
          <p:cNvPr id="8" name="TextBox 7"/>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9" name="TextBox 8"/>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LEARNING UNIT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Agentic AI and RAG Deployment on Streamlit Cloud</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Context augmentation &amp; knowledge graphs · cloud inference · error-log analysis · deploying RAG and Agentic AI apps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0" name="TextBox 9"/>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WHY RAG</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model does not know your data.</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RAG closes the gap: retrieve the right context at query time and the answer becomes grounded, current and citable.</a:t>
            </a:r>
          </a:p>
        </p:txBody>
      </p:sp>
      <p:sp>
        <p:nvSpPr>
          <p:cNvPr id="7" name="TextBox 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8" name="TextBox 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LU2 · T1 — CONTEXT AUGMENTATION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The RAG Pipeline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ag_pipeline.png"/>
          <p:cNvPicPr>
            <a:picLocks noChangeAspect="1"/>
          </p:cNvPicPr>
          <p:nvPr/>
        </p:nvPicPr>
        <p:blipFill>
          <a:blip r:embed="rId2"/>
          <a:stretch>
            <a:fillRect/>
          </a:stretch>
        </p:blipFill>
        <p:spPr>
          <a:xfrm>
            <a:off x="777240" y="2607412"/>
            <a:ext cx="6583680" cy="2694736"/>
          </a:xfrm>
          <a:prstGeom prst="rect">
            <a:avLst/>
          </a:prstGeom>
        </p:spPr>
      </p:pic>
      <p:sp>
        <p:nvSpPr>
          <p:cNvPr id="8" name="Rectangle 7"/>
          <p:cNvSpPr/>
          <p:nvPr/>
        </p:nvSpPr>
        <p:spPr>
          <a:xfrm>
            <a:off x="7680960" y="1783080"/>
            <a:ext cx="373075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68096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36992" y="1783080"/>
            <a:ext cx="3273552" cy="948690"/>
          </a:xfrm>
          <a:prstGeom prst="rect">
            <a:avLst/>
          </a:prstGeom>
          <a:noFill/>
        </p:spPr>
        <p:txBody>
          <a:bodyPr wrap="square" anchor="ctr">
            <a:spAutoFit/>
          </a:bodyPr>
          <a:lstStyle/>
          <a:p>
            <a:pPr algn="l">
              <a:spcAft>
                <a:spcPts val="200"/>
              </a:spcAft>
            </a:pPr>
            <a:r>
              <a:rPr sz="1400" b="1">
                <a:solidFill>
                  <a:srgbClr val="1F6FEB"/>
                </a:solidFill>
                <a:latin typeface="Arial"/>
              </a:rPr>
              <a:t>Chunk with overlap</a:t>
            </a:r>
          </a:p>
          <a:p>
            <a:pPr algn="l">
              <a:spcAft>
                <a:spcPts val="200"/>
              </a:spcAft>
            </a:pPr>
            <a:r>
              <a:rPr sz="1200" b="0">
                <a:solidFill>
                  <a:srgbClr val="161B26"/>
                </a:solidFill>
                <a:latin typeface="Arial"/>
              </a:rPr>
              <a:t>800 characters with 120 overlap keeps sentences whole across boundaries.</a:t>
            </a:r>
          </a:p>
        </p:txBody>
      </p:sp>
      <p:sp>
        <p:nvSpPr>
          <p:cNvPr id="11" name="Rectangle 10"/>
          <p:cNvSpPr/>
          <p:nvPr/>
        </p:nvSpPr>
        <p:spPr>
          <a:xfrm>
            <a:off x="7680960" y="2914650"/>
            <a:ext cx="373075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68096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36992" y="2914650"/>
            <a:ext cx="3273552" cy="948690"/>
          </a:xfrm>
          <a:prstGeom prst="rect">
            <a:avLst/>
          </a:prstGeom>
          <a:noFill/>
        </p:spPr>
        <p:txBody>
          <a:bodyPr wrap="square" anchor="ctr">
            <a:spAutoFit/>
          </a:bodyPr>
          <a:lstStyle/>
          <a:p>
            <a:pPr algn="l">
              <a:spcAft>
                <a:spcPts val="200"/>
              </a:spcAft>
            </a:pPr>
            <a:r>
              <a:rPr sz="1400" b="1">
                <a:solidFill>
                  <a:srgbClr val="10B981"/>
                </a:solidFill>
                <a:latin typeface="Arial"/>
              </a:rPr>
              <a:t>Embed into vectors</a:t>
            </a:r>
          </a:p>
          <a:p>
            <a:pPr algn="l">
              <a:spcAft>
                <a:spcPts val="200"/>
              </a:spcAft>
            </a:pPr>
            <a:r>
              <a:rPr sz="1200" b="0">
                <a:solidFill>
                  <a:srgbClr val="161B26"/>
                </a:solidFill>
                <a:latin typeface="Arial"/>
              </a:rPr>
              <a:t>Text becomes a vector; similar meaning lands close together in the space.</a:t>
            </a:r>
          </a:p>
        </p:txBody>
      </p:sp>
      <p:sp>
        <p:nvSpPr>
          <p:cNvPr id="14" name="Rectangle 13"/>
          <p:cNvSpPr/>
          <p:nvPr/>
        </p:nvSpPr>
        <p:spPr>
          <a:xfrm>
            <a:off x="7680960" y="4046220"/>
            <a:ext cx="373075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68096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36992" y="4046220"/>
            <a:ext cx="3273552" cy="948690"/>
          </a:xfrm>
          <a:prstGeom prst="rect">
            <a:avLst/>
          </a:prstGeom>
          <a:noFill/>
        </p:spPr>
        <p:txBody>
          <a:bodyPr wrap="square" anchor="ctr">
            <a:spAutoFit/>
          </a:bodyPr>
          <a:lstStyle/>
          <a:p>
            <a:pPr algn="l">
              <a:spcAft>
                <a:spcPts val="200"/>
              </a:spcAft>
            </a:pPr>
            <a:r>
              <a:rPr sz="1400" b="1">
                <a:solidFill>
                  <a:srgbClr val="7C3AED"/>
                </a:solidFill>
                <a:latin typeface="Arial"/>
              </a:rPr>
              <a:t>Store and retrieve</a:t>
            </a:r>
          </a:p>
          <a:p>
            <a:pPr algn="l">
              <a:spcAft>
                <a:spcPts val="200"/>
              </a:spcAft>
            </a:pPr>
            <a:r>
              <a:rPr sz="1200" b="0">
                <a:solidFill>
                  <a:srgbClr val="161B26"/>
                </a:solidFill>
                <a:latin typeface="Arial"/>
              </a:rPr>
              <a:t>ChromaDB returns the top-k nearest chunks to the question vector.</a:t>
            </a:r>
          </a:p>
        </p:txBody>
      </p:sp>
      <p:sp>
        <p:nvSpPr>
          <p:cNvPr id="17" name="Rectangle 16"/>
          <p:cNvSpPr/>
          <p:nvPr/>
        </p:nvSpPr>
        <p:spPr>
          <a:xfrm>
            <a:off x="7680960" y="5177790"/>
            <a:ext cx="373075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36992" y="5177790"/>
            <a:ext cx="3273552" cy="948690"/>
          </a:xfrm>
          <a:prstGeom prst="rect">
            <a:avLst/>
          </a:prstGeom>
          <a:noFill/>
        </p:spPr>
        <p:txBody>
          <a:bodyPr wrap="square" anchor="ctr">
            <a:spAutoFit/>
          </a:bodyPr>
          <a:lstStyle/>
          <a:p>
            <a:pPr algn="l">
              <a:spcAft>
                <a:spcPts val="200"/>
              </a:spcAft>
            </a:pPr>
            <a:r>
              <a:rPr sz="1400" b="1">
                <a:solidFill>
                  <a:srgbClr val="F59E0B"/>
                </a:solidFill>
                <a:latin typeface="Arial"/>
              </a:rPr>
              <a:t>Augment, then generate</a:t>
            </a:r>
          </a:p>
          <a:p>
            <a:pPr algn="l">
              <a:spcAft>
                <a:spcPts val="200"/>
              </a:spcAft>
            </a:pPr>
            <a:r>
              <a:rPr sz="1200" b="0">
                <a:solidFill>
                  <a:srgbClr val="161B26"/>
                </a:solidFill>
                <a:latin typeface="Arial"/>
              </a:rPr>
              <a:t>The retrieved chunks are injected into the prompt — the model answers from them.</a:t>
            </a:r>
          </a:p>
        </p:txBody>
      </p:sp>
      <p:sp>
        <p:nvSpPr>
          <p:cNvPr id="20" name="TextBox 19"/>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1" name="TextBox 20"/>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LU2 · T1 — BEYOND PLAIN VECTOR SEARCH</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Context Augmentation Techniques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Vector RAG</a:t>
            </a:r>
          </a:p>
          <a:p>
            <a:pPr algn="l">
              <a:spcAft>
                <a:spcPts val="300"/>
              </a:spcAft>
            </a:pPr>
            <a:r>
              <a:rPr sz="1100" b="0">
                <a:solidFill>
                  <a:srgbClr val="5B6372"/>
                </a:solidFill>
                <a:latin typeface="Arial"/>
              </a:rPr>
              <a:t>Semantic similarity search over embedded chunks — the default, and the easiest to build.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Knowledge graphs</a:t>
            </a:r>
          </a:p>
          <a:p>
            <a:pPr algn="l">
              <a:spcAft>
                <a:spcPts val="300"/>
              </a:spcAft>
            </a:pPr>
            <a:r>
              <a:rPr sz="1100" b="0">
                <a:solidFill>
                  <a:srgbClr val="5B6372"/>
                </a:solidFill>
                <a:latin typeface="Arial"/>
              </a:rPr>
              <a:t>Entities and relationships enable multi-hop reasoning that similarity alone cannot do.</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GraphRAG</a:t>
            </a:r>
          </a:p>
          <a:p>
            <a:pPr algn="l">
              <a:spcAft>
                <a:spcPts val="300"/>
              </a:spcAft>
            </a:pPr>
            <a:r>
              <a:rPr sz="1100" b="0">
                <a:solidFill>
                  <a:srgbClr val="5B6372"/>
                </a:solidFill>
                <a:latin typeface="Arial"/>
              </a:rPr>
              <a:t>Combines both: retrieve by similarity, then traverse relationships to expand the context.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Hybrid search</a:t>
            </a:r>
          </a:p>
          <a:p>
            <a:pPr algn="l">
              <a:spcAft>
                <a:spcPts val="300"/>
              </a:spcAft>
            </a:pPr>
            <a:r>
              <a:rPr sz="1100" b="0">
                <a:solidFill>
                  <a:srgbClr val="5B6372"/>
                </a:solidFill>
                <a:latin typeface="Arial"/>
              </a:rPr>
              <a:t>Vector similarity plus keyword/BM25 — catches exact identifiers that embeddings miss.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Re-ranking</a:t>
            </a:r>
          </a:p>
          <a:p>
            <a:pPr algn="l">
              <a:spcAft>
                <a:spcPts val="300"/>
              </a:spcAft>
            </a:pPr>
            <a:r>
              <a:rPr sz="1100" b="0">
                <a:solidFill>
                  <a:srgbClr val="5B6372"/>
                </a:solidFill>
                <a:latin typeface="Arial"/>
              </a:rPr>
              <a:t>A second, more precise model reorders candidates so the best chunk reaches the prompt.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Metadata filtering</a:t>
            </a:r>
          </a:p>
          <a:p>
            <a:pPr algn="l">
              <a:spcAft>
                <a:spcPts val="300"/>
              </a:spcAft>
            </a:pPr>
            <a:r>
              <a:rPr sz="1100" b="0">
                <a:solidFill>
                  <a:srgbClr val="5B6372"/>
                </a:solidFill>
                <a:latin typeface="Arial"/>
              </a:rPr>
              <a:t>Restrict retrieval by date, source or customer before similarity is even computed.</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LU2 · T1 — KNOWLEDGE GRAPHS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Vector RAG vs GraphRAG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ag_vs_graphrag.png"/>
          <p:cNvPicPr>
            <a:picLocks noChangeAspect="1"/>
          </p:cNvPicPr>
          <p:nvPr/>
        </p:nvPicPr>
        <p:blipFill>
          <a:blip r:embed="rId2"/>
          <a:stretch>
            <a:fillRect/>
          </a:stretch>
        </p:blipFill>
        <p:spPr>
          <a:xfrm>
            <a:off x="1060326" y="1737360"/>
            <a:ext cx="10071043" cy="3977639"/>
          </a:xfrm>
          <a:prstGeom prst="rect">
            <a:avLst/>
          </a:prstGeom>
        </p:spPr>
      </p:pic>
      <p:sp>
        <p:nvSpPr>
          <p:cNvPr id="8" name="Rectangle 7"/>
          <p:cNvSpPr/>
          <p:nvPr/>
        </p:nvSpPr>
        <p:spPr>
          <a:xfrm>
            <a:off x="777240" y="5760720"/>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5760720"/>
            <a:ext cx="10241280" cy="566928"/>
          </a:xfrm>
          <a:prstGeom prst="rect">
            <a:avLst/>
          </a:prstGeom>
          <a:noFill/>
        </p:spPr>
        <p:txBody>
          <a:bodyPr wrap="square" anchor="ctr">
            <a:spAutoFit/>
          </a:bodyPr>
          <a:lstStyle/>
          <a:p>
            <a:pPr algn="l">
              <a:spcAft>
                <a:spcPts val="400"/>
              </a:spcAft>
            </a:pPr>
            <a:r>
              <a:rPr sz="1400" b="0">
                <a:solidFill>
                  <a:srgbClr val="161B26"/>
                </a:solidFill>
                <a:latin typeface="Arial"/>
              </a:rPr>
              <a:t>Flat chunks answer 'what is on invoice 47905?'.  Only a graph reliably answers 'which OTHER customers bought the same product?' — the multi-hop question.</a:t>
            </a:r>
          </a:p>
        </p:txBody>
      </p:sp>
      <p:sp>
        <p:nvSpPr>
          <p:cNvPr id="10" name="TextBox 9"/>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1" name="TextBox 10"/>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8 — Build a RAG Pipeline over Invoice PDFs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8  ·  75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Build the full Retrieval-Augmented Generation pipeline end to end: extract text from invoice PDFs, chunk it with overlap, embed the chunks, store them in ChromaDB, and answer natural-language questions grounded in the retrieved context. This is labs/app/invoice_rag.py.</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Extract PDF text with pypdf</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Chunk with 120-char overlap</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Embed and store in ChromaDB</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Retrieve top-k by similarity</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Augment the prompt and answer</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 Streamlit app that indexes the sample invoice PDFs and answers questions about them with grounded, cited answers.</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OpenAI Embeddings, ChromaDB, pypdf, Streamlit, labs/app/invoice_rag.py, labs/app/fakes invoices/</a:t>
            </a:r>
            <a:r>
              <a:rPr sz="1200" b="0">
                <a:solidFill>
                  <a:srgbClr val="5B6372"/>
                </a:solidFill>
                <a:latin typeface="Arial"/>
              </a:rPr>
              <a:t>     ·     Full step-by-step guide: Learner Guide, Activity 8</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15 minutes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9 — Tune Retrieval Quality — Chunking and Top-K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9  ·  45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Retrieval quality decides answer quality. Run a controlled experiment across chunk sizes and top-k values on the same question set, record which configuration retrieves the right context, and choose settings you can defend with evidence.</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Write 5 gold-standard questions</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Test chunk 300 / 800 / 1500</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Test top-k 1 / 3 / 5</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Record hits and misses</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Pick and justify the settings</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 completed retrieval-tuning table showing accuracy at three chunk sizes and three top-k values, with a chosen configuration.</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ChromaDB, OpenAI Embeddings, labs/data/retrieval_tuning.csv</a:t>
            </a:r>
            <a:r>
              <a:rPr sz="1200" b="0">
                <a:solidFill>
                  <a:srgbClr val="5B6372"/>
                </a:solidFill>
                <a:latin typeface="Arial"/>
              </a:rPr>
              <a:t>     ·     Full step-by-step guide: Learner Guide, Activity 9</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600" b="1">
                <a:solidFill>
                  <a:srgbClr val="161B26"/>
                </a:solidFill>
                <a:latin typeface="Arial"/>
              </a:rPr>
              <a:t>Activity 10 — Context Augmentation with a Knowledge Graph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10  ·  45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Vector similarity alone cannot answer multi-hop questions that require joining facts. Model the invoice data as entities and relationships, then answer a question that plain RAG gets wrong — the core argument for GraphRAG and knowledge-graph context augmentation.</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Extract entities from invoices</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Define the relationships</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Build the graph in NetworkX</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Traverse for a multi-hop answer</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Compare against flat RAG</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 small invoice knowledge graph (customer → invoice → line item) and a multi-hop answer that flat RAG cannot produce.</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NetworkX, Python, labs/data/invoice_graph.csv</a:t>
            </a:r>
            <a:r>
              <a:rPr sz="1200" b="0">
                <a:solidFill>
                  <a:srgbClr val="5B6372"/>
                </a:solidFill>
                <a:latin typeface="Arial"/>
              </a:rPr>
              <a:t>     ·     Full step-by-step guide: Learner Guide, Activity 10</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 hour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LU2 · T2 — CLOUD INFERENCE APPROACHES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Deploying Models for Inference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Managed API endpoints</a:t>
            </a:r>
          </a:p>
          <a:p>
            <a:pPr algn="l">
              <a:spcAft>
                <a:spcPts val="300"/>
              </a:spcAft>
            </a:pPr>
            <a:r>
              <a:rPr sz="1100" b="0">
                <a:solidFill>
                  <a:srgbClr val="5B6372"/>
                </a:solidFill>
                <a:latin typeface="Arial"/>
              </a:rPr>
              <a:t>OpenAI, Gemini, OpenRouter — no infrastructure, per-token pricing, fastest to ship.</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Serverless functions</a:t>
            </a:r>
          </a:p>
          <a:p>
            <a:pPr algn="l">
              <a:spcAft>
                <a:spcPts val="300"/>
              </a:spcAft>
            </a:pPr>
            <a:r>
              <a:rPr sz="1100" b="0">
                <a:solidFill>
                  <a:srgbClr val="5B6372"/>
                </a:solidFill>
                <a:latin typeface="Arial"/>
              </a:rPr>
              <a:t>Scale to zero and pay per request; watch cold-start latency on the first call.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Container platforms</a:t>
            </a:r>
          </a:p>
          <a:p>
            <a:pPr algn="l">
              <a:spcAft>
                <a:spcPts val="300"/>
              </a:spcAft>
            </a:pPr>
            <a:r>
              <a:rPr sz="1100" b="0">
                <a:solidFill>
                  <a:srgbClr val="5B6372"/>
                </a:solidFill>
                <a:latin typeface="Arial"/>
              </a:rPr>
              <a:t>Streamlit Cloud, Railway, Cloud Run — a full app with predictable runtime behaviour.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Dedicated GPU</a:t>
            </a:r>
          </a:p>
          <a:p>
            <a:pPr algn="l">
              <a:spcAft>
                <a:spcPts val="300"/>
              </a:spcAft>
            </a:pPr>
            <a:r>
              <a:rPr sz="1100" b="0">
                <a:solidFill>
                  <a:srgbClr val="5B6372"/>
                </a:solidFill>
                <a:latin typeface="Arial"/>
              </a:rPr>
              <a:t>Self-hosted open models; maximum control and privacy, highest fixed cost.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trade-off</a:t>
            </a:r>
          </a:p>
          <a:p>
            <a:pPr algn="l">
              <a:spcAft>
                <a:spcPts val="300"/>
              </a:spcAft>
            </a:pPr>
            <a:r>
              <a:rPr sz="1100" b="0">
                <a:solidFill>
                  <a:srgbClr val="5B6372"/>
                </a:solidFill>
                <a:latin typeface="Arial"/>
              </a:rPr>
              <a:t>Cost, latency, control and data residency — you cannot maximise all four at once.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For this course</a:t>
            </a:r>
          </a:p>
          <a:p>
            <a:pPr algn="l">
              <a:spcAft>
                <a:spcPts val="300"/>
              </a:spcAft>
            </a:pPr>
            <a:r>
              <a:rPr sz="1100" b="0">
                <a:solidFill>
                  <a:srgbClr val="5B6372"/>
                </a:solidFill>
                <a:latin typeface="Arial"/>
              </a:rPr>
              <a:t>Streamlit Community Cloud plus managed model APIs — production-shaped and free to run.</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LU2 · T4 — DEPLOY ON STREAMLIT CLOUD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Streamlit Cloud Deployment Architecture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eployment_arch.png"/>
          <p:cNvPicPr>
            <a:picLocks noChangeAspect="1"/>
          </p:cNvPicPr>
          <p:nvPr/>
        </p:nvPicPr>
        <p:blipFill>
          <a:blip r:embed="rId2"/>
          <a:stretch>
            <a:fillRect/>
          </a:stretch>
        </p:blipFill>
        <p:spPr>
          <a:xfrm>
            <a:off x="777240" y="2488211"/>
            <a:ext cx="6400800" cy="2933138"/>
          </a:xfrm>
          <a:prstGeom prst="rect">
            <a:avLst/>
          </a:prstGeom>
        </p:spPr>
      </p:pic>
      <p:sp>
        <p:nvSpPr>
          <p:cNvPr id="8" name="Rectangle 7"/>
          <p:cNvSpPr/>
          <p:nvPr/>
        </p:nvSpPr>
        <p:spPr>
          <a:xfrm>
            <a:off x="7498080" y="178308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8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54112" y="1783080"/>
            <a:ext cx="3456432" cy="948690"/>
          </a:xfrm>
          <a:prstGeom prst="rect">
            <a:avLst/>
          </a:prstGeom>
          <a:noFill/>
        </p:spPr>
        <p:txBody>
          <a:bodyPr wrap="square" anchor="ctr">
            <a:spAutoFit/>
          </a:bodyPr>
          <a:lstStyle/>
          <a:p>
            <a:pPr algn="l">
              <a:spcAft>
                <a:spcPts val="200"/>
              </a:spcAft>
            </a:pPr>
            <a:r>
              <a:rPr sz="1400" b="1">
                <a:solidFill>
                  <a:srgbClr val="1F6FEB"/>
                </a:solidFill>
                <a:latin typeface="Arial"/>
              </a:rPr>
              <a:t>Code goes to GitHub</a:t>
            </a:r>
          </a:p>
          <a:p>
            <a:pPr algn="l">
              <a:spcAft>
                <a:spcPts val="200"/>
              </a:spcAft>
            </a:pPr>
            <a:r>
              <a:rPr sz="1200" b="0">
                <a:solidFill>
                  <a:srgbClr val="161B26"/>
                </a:solidFill>
                <a:latin typeface="Arial"/>
              </a:rPr>
              <a:t>The repository is the deployment unit — Streamlit Cloud builds directly from it.</a:t>
            </a:r>
          </a:p>
        </p:txBody>
      </p:sp>
      <p:sp>
        <p:nvSpPr>
          <p:cNvPr id="11" name="Rectangle 10"/>
          <p:cNvSpPr/>
          <p:nvPr/>
        </p:nvSpPr>
        <p:spPr>
          <a:xfrm>
            <a:off x="7498080" y="291465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54112" y="2914650"/>
            <a:ext cx="3456432" cy="948690"/>
          </a:xfrm>
          <a:prstGeom prst="rect">
            <a:avLst/>
          </a:prstGeom>
          <a:noFill/>
        </p:spPr>
        <p:txBody>
          <a:bodyPr wrap="square" anchor="ctr">
            <a:spAutoFit/>
          </a:bodyPr>
          <a:lstStyle/>
          <a:p>
            <a:pPr algn="l">
              <a:spcAft>
                <a:spcPts val="200"/>
              </a:spcAft>
            </a:pPr>
            <a:r>
              <a:rPr sz="1400" b="1">
                <a:solidFill>
                  <a:srgbClr val="10B981"/>
                </a:solidFill>
                <a:latin typeface="Arial"/>
              </a:rPr>
              <a:t>.env never travels</a:t>
            </a:r>
          </a:p>
          <a:p>
            <a:pPr algn="l">
              <a:spcAft>
                <a:spcPts val="200"/>
              </a:spcAft>
            </a:pPr>
            <a:r>
              <a:rPr sz="1200" b="0">
                <a:solidFill>
                  <a:srgbClr val="161B26"/>
                </a:solidFill>
                <a:latin typeface="Arial"/>
              </a:rPr>
              <a:t>Your local key file is git-ignored and must never reach the repository.</a:t>
            </a:r>
          </a:p>
        </p:txBody>
      </p:sp>
      <p:sp>
        <p:nvSpPr>
          <p:cNvPr id="14" name="Rectangle 13"/>
          <p:cNvSpPr/>
          <p:nvPr/>
        </p:nvSpPr>
        <p:spPr>
          <a:xfrm>
            <a:off x="7498080" y="404622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8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54112" y="4046220"/>
            <a:ext cx="3456432" cy="948690"/>
          </a:xfrm>
          <a:prstGeom prst="rect">
            <a:avLst/>
          </a:prstGeom>
          <a:noFill/>
        </p:spPr>
        <p:txBody>
          <a:bodyPr wrap="square" anchor="ctr">
            <a:spAutoFit/>
          </a:bodyPr>
          <a:lstStyle/>
          <a:p>
            <a:pPr algn="l">
              <a:spcAft>
                <a:spcPts val="200"/>
              </a:spcAft>
            </a:pPr>
            <a:r>
              <a:rPr sz="1400" b="1">
                <a:solidFill>
                  <a:srgbClr val="7C3AED"/>
                </a:solidFill>
                <a:latin typeface="Arial"/>
              </a:rPr>
              <a:t>Secrets are injected</a:t>
            </a:r>
          </a:p>
          <a:p>
            <a:pPr algn="l">
              <a:spcAft>
                <a:spcPts val="200"/>
              </a:spcAft>
            </a:pPr>
            <a:r>
              <a:rPr sz="1200" b="0">
                <a:solidFill>
                  <a:srgbClr val="161B26"/>
                </a:solidFill>
                <a:latin typeface="Arial"/>
              </a:rPr>
              <a:t>Keys are pasted into the Secrets manager in TOML and mounted at run time.</a:t>
            </a:r>
          </a:p>
        </p:txBody>
      </p:sp>
      <p:sp>
        <p:nvSpPr>
          <p:cNvPr id="17" name="Rectangle 16"/>
          <p:cNvSpPr/>
          <p:nvPr/>
        </p:nvSpPr>
        <p:spPr>
          <a:xfrm>
            <a:off x="7498080" y="517779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9808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54112" y="5177790"/>
            <a:ext cx="3456432" cy="948690"/>
          </a:xfrm>
          <a:prstGeom prst="rect">
            <a:avLst/>
          </a:prstGeom>
          <a:noFill/>
        </p:spPr>
        <p:txBody>
          <a:bodyPr wrap="square" anchor="ctr">
            <a:spAutoFit/>
          </a:bodyPr>
          <a:lstStyle/>
          <a:p>
            <a:pPr algn="l">
              <a:spcAft>
                <a:spcPts val="200"/>
              </a:spcAft>
            </a:pPr>
            <a:r>
              <a:rPr sz="1400" b="1">
                <a:solidFill>
                  <a:srgbClr val="F59E0B"/>
                </a:solidFill>
                <a:latin typeface="Arial"/>
              </a:rPr>
              <a:t>Public by default</a:t>
            </a:r>
          </a:p>
          <a:p>
            <a:pPr algn="l">
              <a:spcAft>
                <a:spcPts val="200"/>
              </a:spcAft>
            </a:pPr>
            <a:r>
              <a:rPr sz="1200" b="0">
                <a:solidFill>
                  <a:srgbClr val="161B26"/>
                </a:solidFill>
                <a:latin typeface="Arial"/>
              </a:rPr>
              <a:t>The result is a *.streamlit.app URL anyone can open — so guardrails matter.</a:t>
            </a:r>
          </a:p>
        </p:txBody>
      </p:sp>
      <p:sp>
        <p:nvSpPr>
          <p:cNvPr id="20" name="TextBox 19"/>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1" name="TextBox 20"/>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LU2 · T2 — PLATFORM COMPARISON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Streamlit Cloud vs Railway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339583" cy="60742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120127" cy="607422"/>
          </a:xfrm>
          <a:prstGeom prst="rect">
            <a:avLst/>
          </a:prstGeom>
          <a:noFill/>
        </p:spPr>
        <p:txBody>
          <a:bodyPr wrap="square" anchor="ctr">
            <a:spAutoFit/>
          </a:bodyPr>
          <a:lstStyle/>
          <a:p>
            <a:pPr algn="l">
              <a:spcAft>
                <a:spcPts val="400"/>
              </a:spcAft>
            </a:pPr>
            <a:r>
              <a:rPr sz="1200" b="1">
                <a:solidFill>
                  <a:srgbClr val="FFFFFF"/>
                </a:solidFill>
                <a:latin typeface="Arial"/>
              </a:rPr>
              <a:t>Aspect</a:t>
            </a:r>
          </a:p>
        </p:txBody>
      </p:sp>
      <p:sp>
        <p:nvSpPr>
          <p:cNvPr id="9" name="Rectangle 8"/>
          <p:cNvSpPr/>
          <p:nvPr/>
        </p:nvSpPr>
        <p:spPr>
          <a:xfrm>
            <a:off x="3116823" y="1783080"/>
            <a:ext cx="4466478" cy="60742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4839" y="1783080"/>
            <a:ext cx="4247022" cy="607422"/>
          </a:xfrm>
          <a:prstGeom prst="rect">
            <a:avLst/>
          </a:prstGeom>
          <a:noFill/>
        </p:spPr>
        <p:txBody>
          <a:bodyPr wrap="square" anchor="ctr">
            <a:spAutoFit/>
          </a:bodyPr>
          <a:lstStyle/>
          <a:p>
            <a:pPr algn="l">
              <a:spcAft>
                <a:spcPts val="400"/>
              </a:spcAft>
            </a:pPr>
            <a:r>
              <a:rPr sz="1200" b="1">
                <a:solidFill>
                  <a:srgbClr val="FFFFFF"/>
                </a:solidFill>
                <a:latin typeface="Arial"/>
              </a:rPr>
              <a:t>Streamlit Community Cloud</a:t>
            </a:r>
          </a:p>
        </p:txBody>
      </p:sp>
      <p:sp>
        <p:nvSpPr>
          <p:cNvPr id="11" name="Rectangle 10"/>
          <p:cNvSpPr/>
          <p:nvPr/>
        </p:nvSpPr>
        <p:spPr>
          <a:xfrm>
            <a:off x="7583301" y="1783080"/>
            <a:ext cx="3828409" cy="60742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1317" y="1783080"/>
            <a:ext cx="3608953" cy="607422"/>
          </a:xfrm>
          <a:prstGeom prst="rect">
            <a:avLst/>
          </a:prstGeom>
          <a:noFill/>
        </p:spPr>
        <p:txBody>
          <a:bodyPr wrap="square" anchor="ctr">
            <a:spAutoFit/>
          </a:bodyPr>
          <a:lstStyle/>
          <a:p>
            <a:pPr algn="l">
              <a:spcAft>
                <a:spcPts val="400"/>
              </a:spcAft>
            </a:pPr>
            <a:r>
              <a:rPr sz="1200" b="1">
                <a:solidFill>
                  <a:srgbClr val="FFFFFF"/>
                </a:solidFill>
                <a:latin typeface="Arial"/>
              </a:rPr>
              <a:t>Railway</a:t>
            </a:r>
          </a:p>
        </p:txBody>
      </p:sp>
      <p:sp>
        <p:nvSpPr>
          <p:cNvPr id="13" name="Rectangle 12"/>
          <p:cNvSpPr/>
          <p:nvPr/>
        </p:nvSpPr>
        <p:spPr>
          <a:xfrm>
            <a:off x="777240" y="2390502"/>
            <a:ext cx="2339583" cy="60742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390502"/>
            <a:ext cx="2120127" cy="607422"/>
          </a:xfrm>
          <a:prstGeom prst="rect">
            <a:avLst/>
          </a:prstGeom>
          <a:noFill/>
        </p:spPr>
        <p:txBody>
          <a:bodyPr wrap="square" anchor="ctr">
            <a:spAutoFit/>
          </a:bodyPr>
          <a:lstStyle/>
          <a:p>
            <a:pPr algn="l">
              <a:spcAft>
                <a:spcPts val="400"/>
              </a:spcAft>
            </a:pPr>
            <a:r>
              <a:rPr sz="1100" b="1">
                <a:solidFill>
                  <a:srgbClr val="161B26"/>
                </a:solidFill>
                <a:latin typeface="Arial"/>
              </a:rPr>
              <a:t>Best for</a:t>
            </a:r>
          </a:p>
        </p:txBody>
      </p:sp>
      <p:sp>
        <p:nvSpPr>
          <p:cNvPr id="15" name="Rectangle 14"/>
          <p:cNvSpPr/>
          <p:nvPr/>
        </p:nvSpPr>
        <p:spPr>
          <a:xfrm>
            <a:off x="3116823" y="2390502"/>
            <a:ext cx="4466478" cy="60742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44839" y="2390502"/>
            <a:ext cx="4247022" cy="607422"/>
          </a:xfrm>
          <a:prstGeom prst="rect">
            <a:avLst/>
          </a:prstGeom>
          <a:noFill/>
        </p:spPr>
        <p:txBody>
          <a:bodyPr wrap="square" anchor="ctr">
            <a:spAutoFit/>
          </a:bodyPr>
          <a:lstStyle/>
          <a:p>
            <a:pPr algn="l">
              <a:spcAft>
                <a:spcPts val="400"/>
              </a:spcAft>
            </a:pPr>
            <a:r>
              <a:rPr sz="1100" b="0">
                <a:solidFill>
                  <a:srgbClr val="161B26"/>
                </a:solidFill>
                <a:latin typeface="Arial"/>
              </a:rPr>
              <a:t>Streamlit data &amp; AI apps</a:t>
            </a:r>
          </a:p>
        </p:txBody>
      </p:sp>
      <p:sp>
        <p:nvSpPr>
          <p:cNvPr id="17" name="Rectangle 16"/>
          <p:cNvSpPr/>
          <p:nvPr/>
        </p:nvSpPr>
        <p:spPr>
          <a:xfrm>
            <a:off x="7583301" y="2390502"/>
            <a:ext cx="3828409" cy="60742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11317" y="2390502"/>
            <a:ext cx="3608953" cy="607422"/>
          </a:xfrm>
          <a:prstGeom prst="rect">
            <a:avLst/>
          </a:prstGeom>
          <a:noFill/>
        </p:spPr>
        <p:txBody>
          <a:bodyPr wrap="square" anchor="ctr">
            <a:spAutoFit/>
          </a:bodyPr>
          <a:lstStyle/>
          <a:p>
            <a:pPr algn="l">
              <a:spcAft>
                <a:spcPts val="400"/>
              </a:spcAft>
            </a:pPr>
            <a:r>
              <a:rPr sz="1100" b="0">
                <a:solidFill>
                  <a:srgbClr val="161B26"/>
                </a:solidFill>
                <a:latin typeface="Arial"/>
              </a:rPr>
              <a:t>Any containerised service</a:t>
            </a:r>
          </a:p>
        </p:txBody>
      </p:sp>
      <p:sp>
        <p:nvSpPr>
          <p:cNvPr id="19" name="Rectangle 18"/>
          <p:cNvSpPr/>
          <p:nvPr/>
        </p:nvSpPr>
        <p:spPr>
          <a:xfrm>
            <a:off x="777240" y="2997924"/>
            <a:ext cx="2339583" cy="60742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97924"/>
            <a:ext cx="2120127" cy="607422"/>
          </a:xfrm>
          <a:prstGeom prst="rect">
            <a:avLst/>
          </a:prstGeom>
          <a:noFill/>
        </p:spPr>
        <p:txBody>
          <a:bodyPr wrap="square" anchor="ctr">
            <a:spAutoFit/>
          </a:bodyPr>
          <a:lstStyle/>
          <a:p>
            <a:pPr algn="l">
              <a:spcAft>
                <a:spcPts val="400"/>
              </a:spcAft>
            </a:pPr>
            <a:r>
              <a:rPr sz="1100" b="1">
                <a:solidFill>
                  <a:srgbClr val="161B26"/>
                </a:solidFill>
                <a:latin typeface="Arial"/>
              </a:rPr>
              <a:t>Cost</a:t>
            </a:r>
          </a:p>
        </p:txBody>
      </p:sp>
      <p:sp>
        <p:nvSpPr>
          <p:cNvPr id="21" name="Rectangle 20"/>
          <p:cNvSpPr/>
          <p:nvPr/>
        </p:nvSpPr>
        <p:spPr>
          <a:xfrm>
            <a:off x="3116823" y="2997924"/>
            <a:ext cx="4466478" cy="60742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4839" y="2997924"/>
            <a:ext cx="4247022" cy="607422"/>
          </a:xfrm>
          <a:prstGeom prst="rect">
            <a:avLst/>
          </a:prstGeom>
          <a:noFill/>
        </p:spPr>
        <p:txBody>
          <a:bodyPr wrap="square" anchor="ctr">
            <a:spAutoFit/>
          </a:bodyPr>
          <a:lstStyle/>
          <a:p>
            <a:pPr algn="l">
              <a:spcAft>
                <a:spcPts val="400"/>
              </a:spcAft>
            </a:pPr>
            <a:r>
              <a:rPr sz="1100" b="0">
                <a:solidFill>
                  <a:srgbClr val="161B26"/>
                </a:solidFill>
                <a:latin typeface="Arial"/>
              </a:rPr>
              <a:t>Free for public apps</a:t>
            </a:r>
          </a:p>
        </p:txBody>
      </p:sp>
      <p:sp>
        <p:nvSpPr>
          <p:cNvPr id="23" name="Rectangle 22"/>
          <p:cNvSpPr/>
          <p:nvPr/>
        </p:nvSpPr>
        <p:spPr>
          <a:xfrm>
            <a:off x="7583301" y="2997924"/>
            <a:ext cx="3828409" cy="60742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11317" y="2997924"/>
            <a:ext cx="3608953" cy="607422"/>
          </a:xfrm>
          <a:prstGeom prst="rect">
            <a:avLst/>
          </a:prstGeom>
          <a:noFill/>
        </p:spPr>
        <p:txBody>
          <a:bodyPr wrap="square" anchor="ctr">
            <a:spAutoFit/>
          </a:bodyPr>
          <a:lstStyle/>
          <a:p>
            <a:pPr algn="l">
              <a:spcAft>
                <a:spcPts val="400"/>
              </a:spcAft>
            </a:pPr>
            <a:r>
              <a:rPr sz="1100" b="0">
                <a:solidFill>
                  <a:srgbClr val="161B26"/>
                </a:solidFill>
                <a:latin typeface="Arial"/>
              </a:rPr>
              <a:t>Usage-based, free trial credit</a:t>
            </a:r>
          </a:p>
        </p:txBody>
      </p:sp>
      <p:sp>
        <p:nvSpPr>
          <p:cNvPr id="25" name="Rectangle 24"/>
          <p:cNvSpPr/>
          <p:nvPr/>
        </p:nvSpPr>
        <p:spPr>
          <a:xfrm>
            <a:off x="777240" y="3605346"/>
            <a:ext cx="2339583" cy="60742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05346"/>
            <a:ext cx="2120127" cy="607422"/>
          </a:xfrm>
          <a:prstGeom prst="rect">
            <a:avLst/>
          </a:prstGeom>
          <a:noFill/>
        </p:spPr>
        <p:txBody>
          <a:bodyPr wrap="square" anchor="ctr">
            <a:spAutoFit/>
          </a:bodyPr>
          <a:lstStyle/>
          <a:p>
            <a:pPr algn="l">
              <a:spcAft>
                <a:spcPts val="400"/>
              </a:spcAft>
            </a:pPr>
            <a:r>
              <a:rPr sz="1100" b="1">
                <a:solidFill>
                  <a:srgbClr val="161B26"/>
                </a:solidFill>
                <a:latin typeface="Arial"/>
              </a:rPr>
              <a:t>Deploy from</a:t>
            </a:r>
          </a:p>
        </p:txBody>
      </p:sp>
      <p:sp>
        <p:nvSpPr>
          <p:cNvPr id="27" name="Rectangle 26"/>
          <p:cNvSpPr/>
          <p:nvPr/>
        </p:nvSpPr>
        <p:spPr>
          <a:xfrm>
            <a:off x="3116823" y="3605346"/>
            <a:ext cx="4466478" cy="60742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4839" y="3605346"/>
            <a:ext cx="4247022" cy="607422"/>
          </a:xfrm>
          <a:prstGeom prst="rect">
            <a:avLst/>
          </a:prstGeom>
          <a:noFill/>
        </p:spPr>
        <p:txBody>
          <a:bodyPr wrap="square" anchor="ctr">
            <a:spAutoFit/>
          </a:bodyPr>
          <a:lstStyle/>
          <a:p>
            <a:pPr algn="l">
              <a:spcAft>
                <a:spcPts val="400"/>
              </a:spcAft>
            </a:pPr>
            <a:r>
              <a:rPr sz="1100" b="0">
                <a:solidFill>
                  <a:srgbClr val="161B26"/>
                </a:solidFill>
                <a:latin typeface="Arial"/>
              </a:rPr>
              <a:t>A public GitHub repo</a:t>
            </a:r>
          </a:p>
        </p:txBody>
      </p:sp>
      <p:sp>
        <p:nvSpPr>
          <p:cNvPr id="29" name="Rectangle 28"/>
          <p:cNvSpPr/>
          <p:nvPr/>
        </p:nvSpPr>
        <p:spPr>
          <a:xfrm>
            <a:off x="7583301" y="3605346"/>
            <a:ext cx="3828409" cy="60742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11317" y="3605346"/>
            <a:ext cx="3608953" cy="607422"/>
          </a:xfrm>
          <a:prstGeom prst="rect">
            <a:avLst/>
          </a:prstGeom>
          <a:noFill/>
        </p:spPr>
        <p:txBody>
          <a:bodyPr wrap="square" anchor="ctr">
            <a:spAutoFit/>
          </a:bodyPr>
          <a:lstStyle/>
          <a:p>
            <a:pPr algn="l">
              <a:spcAft>
                <a:spcPts val="400"/>
              </a:spcAft>
            </a:pPr>
            <a:r>
              <a:rPr sz="1100" b="0">
                <a:solidFill>
                  <a:srgbClr val="161B26"/>
                </a:solidFill>
                <a:latin typeface="Arial"/>
              </a:rPr>
              <a:t>GitHub, Docker or CLI</a:t>
            </a:r>
          </a:p>
        </p:txBody>
      </p:sp>
      <p:sp>
        <p:nvSpPr>
          <p:cNvPr id="31" name="Rectangle 30"/>
          <p:cNvSpPr/>
          <p:nvPr/>
        </p:nvSpPr>
        <p:spPr>
          <a:xfrm>
            <a:off x="777240" y="4212768"/>
            <a:ext cx="2339583" cy="60742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212768"/>
            <a:ext cx="2120127" cy="607422"/>
          </a:xfrm>
          <a:prstGeom prst="rect">
            <a:avLst/>
          </a:prstGeom>
          <a:noFill/>
        </p:spPr>
        <p:txBody>
          <a:bodyPr wrap="square" anchor="ctr">
            <a:spAutoFit/>
          </a:bodyPr>
          <a:lstStyle/>
          <a:p>
            <a:pPr algn="l">
              <a:spcAft>
                <a:spcPts val="400"/>
              </a:spcAft>
            </a:pPr>
            <a:r>
              <a:rPr sz="1100" b="1">
                <a:solidFill>
                  <a:srgbClr val="161B26"/>
                </a:solidFill>
                <a:latin typeface="Arial"/>
              </a:rPr>
              <a:t>Secrets</a:t>
            </a:r>
          </a:p>
        </p:txBody>
      </p:sp>
      <p:sp>
        <p:nvSpPr>
          <p:cNvPr id="33" name="Rectangle 32"/>
          <p:cNvSpPr/>
          <p:nvPr/>
        </p:nvSpPr>
        <p:spPr>
          <a:xfrm>
            <a:off x="3116823" y="4212768"/>
            <a:ext cx="4466478" cy="60742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44839" y="4212768"/>
            <a:ext cx="4247022" cy="607422"/>
          </a:xfrm>
          <a:prstGeom prst="rect">
            <a:avLst/>
          </a:prstGeom>
          <a:noFill/>
        </p:spPr>
        <p:txBody>
          <a:bodyPr wrap="square" anchor="ctr">
            <a:spAutoFit/>
          </a:bodyPr>
          <a:lstStyle/>
          <a:p>
            <a:pPr algn="l">
              <a:spcAft>
                <a:spcPts val="400"/>
              </a:spcAft>
            </a:pPr>
            <a:r>
              <a:rPr sz="1100" b="0">
                <a:solidFill>
                  <a:srgbClr val="161B26"/>
                </a:solidFill>
                <a:latin typeface="Arial"/>
              </a:rPr>
              <a:t>Secrets manager (TOML)</a:t>
            </a:r>
          </a:p>
        </p:txBody>
      </p:sp>
      <p:sp>
        <p:nvSpPr>
          <p:cNvPr id="35" name="Rectangle 34"/>
          <p:cNvSpPr/>
          <p:nvPr/>
        </p:nvSpPr>
        <p:spPr>
          <a:xfrm>
            <a:off x="7583301" y="4212768"/>
            <a:ext cx="3828409" cy="60742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11317" y="4212768"/>
            <a:ext cx="3608953" cy="607422"/>
          </a:xfrm>
          <a:prstGeom prst="rect">
            <a:avLst/>
          </a:prstGeom>
          <a:noFill/>
        </p:spPr>
        <p:txBody>
          <a:bodyPr wrap="square" anchor="ctr">
            <a:spAutoFit/>
          </a:bodyPr>
          <a:lstStyle/>
          <a:p>
            <a:pPr algn="l">
              <a:spcAft>
                <a:spcPts val="400"/>
              </a:spcAft>
            </a:pPr>
            <a:r>
              <a:rPr sz="1100" b="0">
                <a:solidFill>
                  <a:srgbClr val="161B26"/>
                </a:solidFill>
                <a:latin typeface="Arial"/>
              </a:rPr>
              <a:t>Environment variables</a:t>
            </a:r>
          </a:p>
        </p:txBody>
      </p:sp>
      <p:sp>
        <p:nvSpPr>
          <p:cNvPr id="37" name="Rectangle 36"/>
          <p:cNvSpPr/>
          <p:nvPr/>
        </p:nvSpPr>
        <p:spPr>
          <a:xfrm>
            <a:off x="777240" y="4820190"/>
            <a:ext cx="2339583" cy="60742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820190"/>
            <a:ext cx="2120127" cy="607422"/>
          </a:xfrm>
          <a:prstGeom prst="rect">
            <a:avLst/>
          </a:prstGeom>
          <a:noFill/>
        </p:spPr>
        <p:txBody>
          <a:bodyPr wrap="square" anchor="ctr">
            <a:spAutoFit/>
          </a:bodyPr>
          <a:lstStyle/>
          <a:p>
            <a:pPr algn="l">
              <a:spcAft>
                <a:spcPts val="400"/>
              </a:spcAft>
            </a:pPr>
            <a:r>
              <a:rPr sz="1100" b="1">
                <a:solidFill>
                  <a:srgbClr val="161B26"/>
                </a:solidFill>
                <a:latin typeface="Arial"/>
              </a:rPr>
              <a:t>Scaling</a:t>
            </a:r>
          </a:p>
        </p:txBody>
      </p:sp>
      <p:sp>
        <p:nvSpPr>
          <p:cNvPr id="39" name="Rectangle 38"/>
          <p:cNvSpPr/>
          <p:nvPr/>
        </p:nvSpPr>
        <p:spPr>
          <a:xfrm>
            <a:off x="3116823" y="4820190"/>
            <a:ext cx="4466478" cy="60742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4839" y="4820190"/>
            <a:ext cx="4247022" cy="607422"/>
          </a:xfrm>
          <a:prstGeom prst="rect">
            <a:avLst/>
          </a:prstGeom>
          <a:noFill/>
        </p:spPr>
        <p:txBody>
          <a:bodyPr wrap="square" anchor="ctr">
            <a:spAutoFit/>
          </a:bodyPr>
          <a:lstStyle/>
          <a:p>
            <a:pPr algn="l">
              <a:spcAft>
                <a:spcPts val="400"/>
              </a:spcAft>
            </a:pPr>
            <a:r>
              <a:rPr sz="1100" b="0">
                <a:solidFill>
                  <a:srgbClr val="161B26"/>
                </a:solidFill>
                <a:latin typeface="Arial"/>
              </a:rPr>
              <a:t>Fixed small instance</a:t>
            </a:r>
          </a:p>
        </p:txBody>
      </p:sp>
      <p:sp>
        <p:nvSpPr>
          <p:cNvPr id="41" name="Rectangle 40"/>
          <p:cNvSpPr/>
          <p:nvPr/>
        </p:nvSpPr>
        <p:spPr>
          <a:xfrm>
            <a:off x="7583301" y="4820190"/>
            <a:ext cx="3828409" cy="60742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11317" y="4820190"/>
            <a:ext cx="3608953" cy="607422"/>
          </a:xfrm>
          <a:prstGeom prst="rect">
            <a:avLst/>
          </a:prstGeom>
          <a:noFill/>
        </p:spPr>
        <p:txBody>
          <a:bodyPr wrap="square" anchor="ctr">
            <a:spAutoFit/>
          </a:bodyPr>
          <a:lstStyle/>
          <a:p>
            <a:pPr algn="l">
              <a:spcAft>
                <a:spcPts val="400"/>
              </a:spcAft>
            </a:pPr>
            <a:r>
              <a:rPr sz="1100" b="0">
                <a:solidFill>
                  <a:srgbClr val="161B26"/>
                </a:solidFill>
                <a:latin typeface="Arial"/>
              </a:rPr>
              <a:t>Configurable resources</a:t>
            </a:r>
          </a:p>
        </p:txBody>
      </p:sp>
      <p:sp>
        <p:nvSpPr>
          <p:cNvPr id="43" name="Rectangle 42"/>
          <p:cNvSpPr/>
          <p:nvPr/>
        </p:nvSpPr>
        <p:spPr>
          <a:xfrm>
            <a:off x="777240" y="5427612"/>
            <a:ext cx="2339583" cy="60742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5427612"/>
            <a:ext cx="2120127" cy="607422"/>
          </a:xfrm>
          <a:prstGeom prst="rect">
            <a:avLst/>
          </a:prstGeom>
          <a:noFill/>
        </p:spPr>
        <p:txBody>
          <a:bodyPr wrap="square" anchor="ctr">
            <a:spAutoFit/>
          </a:bodyPr>
          <a:lstStyle/>
          <a:p>
            <a:pPr algn="l">
              <a:spcAft>
                <a:spcPts val="400"/>
              </a:spcAft>
            </a:pPr>
            <a:r>
              <a:rPr sz="1100" b="1">
                <a:solidFill>
                  <a:srgbClr val="161B26"/>
                </a:solidFill>
                <a:latin typeface="Arial"/>
              </a:rPr>
              <a:t>Custom domain</a:t>
            </a:r>
          </a:p>
        </p:txBody>
      </p:sp>
      <p:sp>
        <p:nvSpPr>
          <p:cNvPr id="45" name="Rectangle 44"/>
          <p:cNvSpPr/>
          <p:nvPr/>
        </p:nvSpPr>
        <p:spPr>
          <a:xfrm>
            <a:off x="3116823" y="5427612"/>
            <a:ext cx="4466478" cy="60742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44839" y="5427612"/>
            <a:ext cx="4247022" cy="607422"/>
          </a:xfrm>
          <a:prstGeom prst="rect">
            <a:avLst/>
          </a:prstGeom>
          <a:noFill/>
        </p:spPr>
        <p:txBody>
          <a:bodyPr wrap="square" anchor="ctr">
            <a:spAutoFit/>
          </a:bodyPr>
          <a:lstStyle/>
          <a:p>
            <a:pPr algn="l">
              <a:spcAft>
                <a:spcPts val="400"/>
              </a:spcAft>
            </a:pPr>
            <a:r>
              <a:rPr sz="1100" b="0">
                <a:solidFill>
                  <a:srgbClr val="161B26"/>
                </a:solidFill>
                <a:latin typeface="Arial"/>
              </a:rPr>
              <a:t>No</a:t>
            </a:r>
          </a:p>
        </p:txBody>
      </p:sp>
      <p:sp>
        <p:nvSpPr>
          <p:cNvPr id="47" name="Rectangle 46"/>
          <p:cNvSpPr/>
          <p:nvPr/>
        </p:nvSpPr>
        <p:spPr>
          <a:xfrm>
            <a:off x="7583301" y="5427612"/>
            <a:ext cx="3828409" cy="60742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711317" y="5427612"/>
            <a:ext cx="3608953" cy="607422"/>
          </a:xfrm>
          <a:prstGeom prst="rect">
            <a:avLst/>
          </a:prstGeom>
          <a:noFill/>
        </p:spPr>
        <p:txBody>
          <a:bodyPr wrap="square" anchor="ctr">
            <a:spAutoFit/>
          </a:bodyPr>
          <a:lstStyle/>
          <a:p>
            <a:pPr algn="l">
              <a:spcAft>
                <a:spcPts val="400"/>
              </a:spcAft>
            </a:pPr>
            <a:r>
              <a:rPr sz="1100" b="0">
                <a:solidFill>
                  <a:srgbClr val="161B26"/>
                </a:solidFill>
                <a:latin typeface="Arial"/>
              </a:rPr>
              <a:t>Yes</a:t>
            </a:r>
          </a:p>
        </p:txBody>
      </p:sp>
      <p:sp>
        <p:nvSpPr>
          <p:cNvPr id="49" name="TextBox 48"/>
          <p:cNvSpPr txBox="1"/>
          <p:nvPr/>
        </p:nvSpPr>
        <p:spPr>
          <a:xfrm>
            <a:off x="777240" y="6053328"/>
            <a:ext cx="10698480" cy="365760"/>
          </a:xfrm>
          <a:prstGeom prst="rect">
            <a:avLst/>
          </a:prstGeom>
          <a:noFill/>
        </p:spPr>
        <p:txBody>
          <a:bodyPr wrap="square" anchor="t">
            <a:spAutoFit/>
          </a:bodyPr>
          <a:lstStyle/>
          <a:p>
            <a:pPr algn="ctr">
              <a:spcAft>
                <a:spcPts val="400"/>
              </a:spcAft>
            </a:pPr>
            <a:r>
              <a:rPr sz="1300" b="0">
                <a:solidFill>
                  <a:srgbClr val="5B6372"/>
                </a:solidFill>
                <a:latin typeface="Arial"/>
              </a:rPr>
              <a:t>Streamlit Cloud for the fastest path to a shareable AI app; Railway when you need containers, a database or a custom domain.</a:t>
            </a:r>
          </a:p>
        </p:txBody>
      </p:sp>
      <p:sp>
        <p:nvSpPr>
          <p:cNvPr id="50" name="TextBox 49"/>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51" name="TextBox 50"/>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2" name="TextBox 5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600" b="1">
                <a:solidFill>
                  <a:srgbClr val="161B26"/>
                </a:solidFill>
                <a:latin typeface="Arial"/>
              </a:rPr>
              <a:t>Activity 11 — Swap Model Providers — Gemini and OpenRouter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11  ·  60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Resolve real multi-model compatibility issues by pointing the same RAG application at three different providers through the OpenAI-compatible API surface: OpenAI, Google Gemini and OpenRouter. Compare cost, latency and answer quality on identical questions.</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Run the OpenAI baseline</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Diff the Gemini variant</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Set base_url + provider key</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Run the OpenRouter variant</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Compare cost / latency / quality</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The same RAG app running against three providers, with a comparison of cost, speed and answer quality.</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OpenAI API, Gemini API, OpenRouter, labs/app/invoice_rag_gemini.py, labs/app/invoice_rag_openrouter.py</a:t>
            </a:r>
            <a:r>
              <a:rPr sz="1200" b="0">
                <a:solidFill>
                  <a:srgbClr val="5B6372"/>
                </a:solidFill>
                <a:latin typeface="Arial"/>
              </a:rPr>
              <a:t>     ·     Full step-by-step guide: Learner Guide, Activity 11</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12 — Deploy a RAG App to Streamlit Cloud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12  ·  75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Take the RAG application from localhost to a public URL on Streamlit Community Cloud: pin the dependencies, push to GitHub, connect the repository, and inject API keys through the Secrets manager rather than committing them — the deployment pattern behind the course demo app.</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Pin requirements.txt</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Push to a public GitHub repo</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Connect Streamlit Cloud to the repo</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Add keys in Secrets (TOML)</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Deploy and open the public URL</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 publicly reachable Streamlit Cloud URL running YOUR RAG app, with secrets configured and no keys in the repository.</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Streamlit Community Cloud, GitHub, requirements.txt, Streamlit Secrets</a:t>
            </a:r>
            <a:r>
              <a:rPr sz="1200" b="0">
                <a:solidFill>
                  <a:srgbClr val="5B6372"/>
                </a:solidFill>
                <a:latin typeface="Arial"/>
              </a:rPr>
              <a:t>     ·     Full step-by-step guide: Learner Guide, Activity 12</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15 minutes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LU2 · T3 — ANALYSING ERROR LOGS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Where Agentic AI Pipelines Fail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rror_triage.png"/>
          <p:cNvPicPr>
            <a:picLocks noChangeAspect="1"/>
          </p:cNvPicPr>
          <p:nvPr/>
        </p:nvPicPr>
        <p:blipFill>
          <a:blip r:embed="rId2"/>
          <a:stretch>
            <a:fillRect/>
          </a:stretch>
        </p:blipFill>
        <p:spPr>
          <a:xfrm>
            <a:off x="777240" y="2478754"/>
            <a:ext cx="6400800" cy="2952052"/>
          </a:xfrm>
          <a:prstGeom prst="rect">
            <a:avLst/>
          </a:prstGeom>
        </p:spPr>
      </p:pic>
      <p:sp>
        <p:nvSpPr>
          <p:cNvPr id="8" name="Rectangle 7"/>
          <p:cNvSpPr/>
          <p:nvPr/>
        </p:nvSpPr>
        <p:spPr>
          <a:xfrm>
            <a:off x="7498080" y="178308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8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54112" y="1783080"/>
            <a:ext cx="3456432" cy="948690"/>
          </a:xfrm>
          <a:prstGeom prst="rect">
            <a:avLst/>
          </a:prstGeom>
          <a:noFill/>
        </p:spPr>
        <p:txBody>
          <a:bodyPr wrap="square" anchor="ctr">
            <a:spAutoFit/>
          </a:bodyPr>
          <a:lstStyle/>
          <a:p>
            <a:pPr algn="l">
              <a:spcAft>
                <a:spcPts val="200"/>
              </a:spcAft>
            </a:pPr>
            <a:r>
              <a:rPr sz="1400" b="1">
                <a:solidFill>
                  <a:srgbClr val="1F6FEB"/>
                </a:solidFill>
                <a:latin typeface="Arial"/>
              </a:rPr>
              <a:t>Build vs run</a:t>
            </a:r>
          </a:p>
          <a:p>
            <a:pPr algn="l">
              <a:spcAft>
                <a:spcPts val="200"/>
              </a:spcAft>
            </a:pPr>
            <a:r>
              <a:rPr sz="1200" b="0">
                <a:solidFill>
                  <a:srgbClr val="161B26"/>
                </a:solidFill>
                <a:latin typeface="Arial"/>
              </a:rPr>
              <a:t>A missing dependency fails at build; a missing secret fails at start — different logs, different fixes.</a:t>
            </a:r>
          </a:p>
        </p:txBody>
      </p:sp>
      <p:sp>
        <p:nvSpPr>
          <p:cNvPr id="11" name="Rectangle 10"/>
          <p:cNvSpPr/>
          <p:nvPr/>
        </p:nvSpPr>
        <p:spPr>
          <a:xfrm>
            <a:off x="7498080" y="291465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54112" y="2914650"/>
            <a:ext cx="3456432" cy="948690"/>
          </a:xfrm>
          <a:prstGeom prst="rect">
            <a:avLst/>
          </a:prstGeom>
          <a:noFill/>
        </p:spPr>
        <p:txBody>
          <a:bodyPr wrap="square" anchor="ctr">
            <a:spAutoFit/>
          </a:bodyPr>
          <a:lstStyle/>
          <a:p>
            <a:pPr algn="l">
              <a:spcAft>
                <a:spcPts val="200"/>
              </a:spcAft>
            </a:pPr>
            <a:r>
              <a:rPr sz="1400" b="1">
                <a:solidFill>
                  <a:srgbClr val="10B981"/>
                </a:solidFill>
                <a:latin typeface="Arial"/>
              </a:rPr>
              <a:t>Read the FIRST error</a:t>
            </a:r>
          </a:p>
          <a:p>
            <a:pPr algn="l">
              <a:spcAft>
                <a:spcPts val="200"/>
              </a:spcAft>
            </a:pPr>
            <a:r>
              <a:rPr sz="1200" b="0">
                <a:solidFill>
                  <a:srgbClr val="161B26"/>
                </a:solidFill>
                <a:latin typeface="Arial"/>
              </a:rPr>
              <a:t>Everything after the first traceback line is usually a downstream consequence.</a:t>
            </a:r>
          </a:p>
        </p:txBody>
      </p:sp>
      <p:sp>
        <p:nvSpPr>
          <p:cNvPr id="14" name="Rectangle 13"/>
          <p:cNvSpPr/>
          <p:nvPr/>
        </p:nvSpPr>
        <p:spPr>
          <a:xfrm>
            <a:off x="7498080" y="404622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8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54112" y="4046220"/>
            <a:ext cx="3456432" cy="948690"/>
          </a:xfrm>
          <a:prstGeom prst="rect">
            <a:avLst/>
          </a:prstGeom>
          <a:noFill/>
        </p:spPr>
        <p:txBody>
          <a:bodyPr wrap="square" anchor="ctr">
            <a:spAutoFit/>
          </a:bodyPr>
          <a:lstStyle/>
          <a:p>
            <a:pPr algn="l">
              <a:spcAft>
                <a:spcPts val="200"/>
              </a:spcAft>
            </a:pPr>
            <a:r>
              <a:rPr sz="1400" b="1">
                <a:solidFill>
                  <a:srgbClr val="7C3AED"/>
                </a:solidFill>
                <a:latin typeface="Arial"/>
              </a:rPr>
              <a:t>Tool errors are schema errors</a:t>
            </a:r>
          </a:p>
          <a:p>
            <a:pPr algn="l">
              <a:spcAft>
                <a:spcPts val="200"/>
              </a:spcAft>
            </a:pPr>
            <a:r>
              <a:rPr sz="1200" b="0">
                <a:solidFill>
                  <a:srgbClr val="161B26"/>
                </a:solidFill>
                <a:latin typeface="Arial"/>
              </a:rPr>
              <a:t>Missing type hints and vague docstrings break tool calling more often than model quality.</a:t>
            </a:r>
          </a:p>
        </p:txBody>
      </p:sp>
      <p:sp>
        <p:nvSpPr>
          <p:cNvPr id="17" name="Rectangle 16"/>
          <p:cNvSpPr/>
          <p:nvPr/>
        </p:nvSpPr>
        <p:spPr>
          <a:xfrm>
            <a:off x="7498080" y="517779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9808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54112" y="5177790"/>
            <a:ext cx="3456432" cy="948690"/>
          </a:xfrm>
          <a:prstGeom prst="rect">
            <a:avLst/>
          </a:prstGeom>
          <a:noFill/>
        </p:spPr>
        <p:txBody>
          <a:bodyPr wrap="square" anchor="ctr">
            <a:spAutoFit/>
          </a:bodyPr>
          <a:lstStyle/>
          <a:p>
            <a:pPr algn="l">
              <a:spcAft>
                <a:spcPts val="200"/>
              </a:spcAft>
            </a:pPr>
            <a:r>
              <a:rPr sz="1400" b="1">
                <a:solidFill>
                  <a:srgbClr val="F59E0B"/>
                </a:solidFill>
                <a:latin typeface="Arial"/>
              </a:rPr>
              <a:t>Bad answers are retrieval bugs</a:t>
            </a:r>
          </a:p>
          <a:p>
            <a:pPr algn="l">
              <a:spcAft>
                <a:spcPts val="200"/>
              </a:spcAft>
            </a:pPr>
            <a:r>
              <a:rPr sz="1200" b="0">
                <a:solidFill>
                  <a:srgbClr val="161B26"/>
                </a:solidFill>
                <a:latin typeface="Arial"/>
              </a:rPr>
              <a:t>If the context was wrong, no amount of prompt tuning will fix the answer.</a:t>
            </a:r>
          </a:p>
        </p:txBody>
      </p:sp>
      <p:sp>
        <p:nvSpPr>
          <p:cNvPr id="20" name="TextBox 19"/>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1" name="TextBox 20"/>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600" b="1">
                <a:solidFill>
                  <a:srgbClr val="161B26"/>
                </a:solidFill>
                <a:latin typeface="Arial"/>
              </a:rPr>
              <a:t>Activity 13 — Diagnose Deployment Failures from Error Logs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13  ·  45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Deployments fail in a small number of predictable ways. Deliberately trigger the four most common failures, read the actual log output each produces, and build a reusable symptom → root-cause → fix table for diagnosing Agentic AI pipelines.</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Break the dependency pin</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Remove the API secret</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Force a rate-limit error</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Break a tool signature</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Complete the triage table</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 completed error-log triage table mapping four real log signatures to their root causes and fixes.</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Streamlit Cloud logs, Python tracebacks, labs/data/error_triage.csv</a:t>
            </a:r>
            <a:r>
              <a:rPr sz="1200" b="0">
                <a:solidFill>
                  <a:srgbClr val="5B6372"/>
                </a:solidFill>
                <a:latin typeface="Arial"/>
              </a:rPr>
              <a:t>     ·     Full step-by-step guide: Learner Guide, Activity 13</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14 — Deploy the Multi-Agent App and Monitor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14  ·  60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Deploy the multi-agent trip planner from Activity 6 to Streamlit Cloud, add caching and spend controls so a public multi-agent app cannot run away with your API budget, and monitor its behaviour under real use.</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Deploy trip_planner.py</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Add st.cache_data to searches</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Cap requests per session</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Set a provider spend limit</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Monitor logs and token usage</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 publicly deployed multi-agent app with caching, a request cap and monitored token spend.</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Streamlit Community Cloud, OpenAI usage dashboard, st.cache_data, labs/app/trip_planner.py</a:t>
            </a:r>
            <a:r>
              <a:rPr sz="1200" b="0">
                <a:solidFill>
                  <a:srgbClr val="5B6372"/>
                </a:solidFill>
                <a:latin typeface="Arial"/>
              </a:rPr>
              <a:t>     ·     Full step-by-step guide: Learner Guide, Activity 14</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LU2 · LEARNING OUTCOME 2 ACHIEVED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Recap — Learning Unit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You can explain and build the full RAG pipeline: chunk, embed, store, retrieve, augment, generate.</a:t>
            </a:r>
          </a:p>
          <a:p>
            <a:pPr>
              <a:spcAft>
                <a:spcPts val="1000"/>
              </a:spcAft>
            </a:pPr>
            <a:r>
              <a:rPr sz="1700" b="0">
                <a:solidFill>
                  <a:srgbClr val="161B26"/>
                </a:solidFill>
                <a:latin typeface="Arial"/>
              </a:rPr>
              <a:t>•  You can tune chunk size and top-k using evidence rather than guesswork.</a:t>
            </a:r>
          </a:p>
          <a:p>
            <a:pPr>
              <a:spcAft>
                <a:spcPts val="1000"/>
              </a:spcAft>
            </a:pPr>
            <a:r>
              <a:rPr sz="1700" b="0">
                <a:solidFill>
                  <a:srgbClr val="161B26"/>
                </a:solidFill>
                <a:latin typeface="Arial"/>
              </a:rPr>
              <a:t>•  You can explain when a knowledge graph beats flat vector retrieval, and why.</a:t>
            </a:r>
          </a:p>
          <a:p>
            <a:pPr>
              <a:spcAft>
                <a:spcPts val="1000"/>
              </a:spcAft>
            </a:pPr>
            <a:r>
              <a:rPr sz="1700" b="0">
                <a:solidFill>
                  <a:srgbClr val="161B26"/>
                </a:solidFill>
                <a:latin typeface="Arial"/>
              </a:rPr>
              <a:t>•  You have deployed a RAG app and a multi-agent app to a public Streamlit Cloud URL.</a:t>
            </a:r>
          </a:p>
          <a:p>
            <a:pPr>
              <a:spcAft>
                <a:spcPts val="1000"/>
              </a:spcAft>
            </a:pPr>
            <a:r>
              <a:rPr sz="1700" b="0">
                <a:solidFill>
                  <a:srgbClr val="161B26"/>
                </a:solidFill>
                <a:latin typeface="Arial"/>
              </a:rPr>
              <a:t>•  You can diagnose build-time, start-time, run-time and tool-call failures from their logs.</a:t>
            </a:r>
          </a:p>
        </p:txBody>
      </p:sp>
      <p:sp>
        <p:nvSpPr>
          <p:cNvPr id="8" name="TextBox 7"/>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9" name="TextBox 8"/>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LEARNING UNIT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Model Alignment and Guardrails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Safeguarding LLMs with guardrails · model alignment for safety · deploying guardrails on Agentic AI applications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0" name="TextBox 9"/>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626"/>
                </a:solidFill>
                <a:latin typeface="Arial"/>
              </a:rPr>
              <a:t>WHY GUARDRAILS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 public agent will be attacked.</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The moment your app has a URL, someone will try prompt injection. Guardrails are not optional polish — they are the deployment requirement.</a:t>
            </a:r>
          </a:p>
        </p:txBody>
      </p:sp>
      <p:sp>
        <p:nvSpPr>
          <p:cNvPr id="7" name="TextBox 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8" name="TextBox 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626"/>
                </a:solidFill>
                <a:latin typeface="Arial"/>
              </a:rPr>
              <a:t>LU3 · T1 — SAFEGUARDING LLMs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What Guardrails Defend Against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Prompt injection</a:t>
            </a:r>
          </a:p>
          <a:p>
            <a:pPr algn="l">
              <a:spcAft>
                <a:spcPts val="300"/>
              </a:spcAft>
            </a:pPr>
            <a:r>
              <a:rPr sz="1100" b="0">
                <a:solidFill>
                  <a:srgbClr val="5B6372"/>
                </a:solidFill>
                <a:latin typeface="Arial"/>
              </a:rPr>
              <a:t>Instructions hidden in user input or retrieved documents that hijack the agent.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Jailbreaks</a:t>
            </a:r>
          </a:p>
          <a:p>
            <a:pPr algn="l">
              <a:spcAft>
                <a:spcPts val="300"/>
              </a:spcAft>
            </a:pPr>
            <a:r>
              <a:rPr sz="1100" b="0">
                <a:solidFill>
                  <a:srgbClr val="5B6372"/>
                </a:solidFill>
                <a:latin typeface="Arial"/>
              </a:rPr>
              <a:t>Role-play and framing attacks that talk the model out of its own safety training.</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PII leakage</a:t>
            </a:r>
          </a:p>
          <a:p>
            <a:pPr algn="l">
              <a:spcAft>
                <a:spcPts val="300"/>
              </a:spcAft>
            </a:pPr>
            <a:r>
              <a:rPr sz="1100" b="0">
                <a:solidFill>
                  <a:srgbClr val="5B6372"/>
                </a:solidFill>
                <a:latin typeface="Arial"/>
              </a:rPr>
              <a:t>Personal data from your RAG corpus surfacing in an answer it should never appear in.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Toxic or unsafe output</a:t>
            </a:r>
          </a:p>
          <a:p>
            <a:pPr algn="l">
              <a:spcAft>
                <a:spcPts val="300"/>
              </a:spcAft>
            </a:pPr>
            <a:r>
              <a:rPr sz="1100" b="0">
                <a:solidFill>
                  <a:srgbClr val="5B6372"/>
                </a:solidFill>
                <a:latin typeface="Arial"/>
              </a:rPr>
              <a:t>Content that is harmful, defamatory or breaches your organisation's policy.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Off-topic abuse</a:t>
            </a:r>
          </a:p>
          <a:p>
            <a:pPr algn="l">
              <a:spcAft>
                <a:spcPts val="300"/>
              </a:spcAft>
            </a:pPr>
            <a:r>
              <a:rPr sz="1100" b="0">
                <a:solidFill>
                  <a:srgbClr val="5B6372"/>
                </a:solidFill>
                <a:latin typeface="Arial"/>
              </a:rPr>
              <a:t>Your paid API budget spent on requests your application was never built for.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Unsafe tool invocation</a:t>
            </a:r>
          </a:p>
          <a:p>
            <a:pPr algn="l">
              <a:spcAft>
                <a:spcPts val="300"/>
              </a:spcAft>
            </a:pPr>
            <a:r>
              <a:rPr sz="1100" b="0">
                <a:solidFill>
                  <a:srgbClr val="5B6372"/>
                </a:solidFill>
                <a:latin typeface="Arial"/>
              </a:rPr>
              <a:t>An agent persuaded to call a real, consequential tool with attacker-chosen arguments.</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LU3 · T1 — LAYERED GUARDRAILS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Three Layers of Defence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uardrail_layers.png"/>
          <p:cNvPicPr>
            <a:picLocks noChangeAspect="1"/>
          </p:cNvPicPr>
          <p:nvPr/>
        </p:nvPicPr>
        <p:blipFill>
          <a:blip r:embed="rId2"/>
          <a:stretch>
            <a:fillRect/>
          </a:stretch>
        </p:blipFill>
        <p:spPr>
          <a:xfrm>
            <a:off x="777240" y="2488211"/>
            <a:ext cx="6400800" cy="2933138"/>
          </a:xfrm>
          <a:prstGeom prst="rect">
            <a:avLst/>
          </a:prstGeom>
        </p:spPr>
      </p:pic>
      <p:sp>
        <p:nvSpPr>
          <p:cNvPr id="8" name="Rectangle 7"/>
          <p:cNvSpPr/>
          <p:nvPr/>
        </p:nvSpPr>
        <p:spPr>
          <a:xfrm>
            <a:off x="7498080" y="178308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80" y="1783080"/>
            <a:ext cx="82296" cy="9486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54112" y="1783080"/>
            <a:ext cx="3456432" cy="948690"/>
          </a:xfrm>
          <a:prstGeom prst="rect">
            <a:avLst/>
          </a:prstGeom>
          <a:noFill/>
        </p:spPr>
        <p:txBody>
          <a:bodyPr wrap="square" anchor="ctr">
            <a:spAutoFit/>
          </a:bodyPr>
          <a:lstStyle/>
          <a:p>
            <a:pPr algn="l">
              <a:spcAft>
                <a:spcPts val="200"/>
              </a:spcAft>
            </a:pPr>
            <a:r>
              <a:rPr sz="1400" b="1">
                <a:solidFill>
                  <a:srgbClr val="1F6FEB"/>
                </a:solidFill>
                <a:latin typeface="Arial"/>
              </a:rPr>
              <a:t>Input guardrails</a:t>
            </a:r>
          </a:p>
          <a:p>
            <a:pPr algn="l">
              <a:spcAft>
                <a:spcPts val="200"/>
              </a:spcAft>
            </a:pPr>
            <a:r>
              <a:rPr sz="1200" b="0">
                <a:solidFill>
                  <a:srgbClr val="161B26"/>
                </a:solidFill>
                <a:latin typeface="Arial"/>
              </a:rPr>
              <a:t>Validate and classify BEFORE the expensive model call — cheapest place to say no.</a:t>
            </a:r>
          </a:p>
        </p:txBody>
      </p:sp>
      <p:sp>
        <p:nvSpPr>
          <p:cNvPr id="11" name="Rectangle 10"/>
          <p:cNvSpPr/>
          <p:nvPr/>
        </p:nvSpPr>
        <p:spPr>
          <a:xfrm>
            <a:off x="7498080" y="291465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0" y="2914650"/>
            <a:ext cx="82296" cy="94869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54112" y="2914650"/>
            <a:ext cx="3456432" cy="948690"/>
          </a:xfrm>
          <a:prstGeom prst="rect">
            <a:avLst/>
          </a:prstGeom>
          <a:noFill/>
        </p:spPr>
        <p:txBody>
          <a:bodyPr wrap="square" anchor="ctr">
            <a:spAutoFit/>
          </a:bodyPr>
          <a:lstStyle/>
          <a:p>
            <a:pPr algn="l">
              <a:spcAft>
                <a:spcPts val="200"/>
              </a:spcAft>
            </a:pPr>
            <a:r>
              <a:rPr sz="1400" b="1">
                <a:solidFill>
                  <a:srgbClr val="10B981"/>
                </a:solidFill>
                <a:latin typeface="Arial"/>
              </a:rPr>
              <a:t>The agent itself</a:t>
            </a:r>
          </a:p>
          <a:p>
            <a:pPr algn="l">
              <a:spcAft>
                <a:spcPts val="200"/>
              </a:spcAft>
            </a:pPr>
            <a:r>
              <a:rPr sz="1200" b="0">
                <a:solidFill>
                  <a:srgbClr val="161B26"/>
                </a:solidFill>
                <a:latin typeface="Arial"/>
              </a:rPr>
              <a:t>Instructions, limited tools and least privilege reduce what can go wrong at all.</a:t>
            </a:r>
          </a:p>
        </p:txBody>
      </p:sp>
      <p:sp>
        <p:nvSpPr>
          <p:cNvPr id="14" name="Rectangle 13"/>
          <p:cNvSpPr/>
          <p:nvPr/>
        </p:nvSpPr>
        <p:spPr>
          <a:xfrm>
            <a:off x="7498080" y="404622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80" y="4046220"/>
            <a:ext cx="82296" cy="94869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54112" y="4046220"/>
            <a:ext cx="3456432" cy="948690"/>
          </a:xfrm>
          <a:prstGeom prst="rect">
            <a:avLst/>
          </a:prstGeom>
          <a:noFill/>
        </p:spPr>
        <p:txBody>
          <a:bodyPr wrap="square" anchor="ctr">
            <a:spAutoFit/>
          </a:bodyPr>
          <a:lstStyle/>
          <a:p>
            <a:pPr algn="l">
              <a:spcAft>
                <a:spcPts val="200"/>
              </a:spcAft>
            </a:pPr>
            <a:r>
              <a:rPr sz="1400" b="1">
                <a:solidFill>
                  <a:srgbClr val="7C3AED"/>
                </a:solidFill>
                <a:latin typeface="Arial"/>
              </a:rPr>
              <a:t>Output guardrails</a:t>
            </a:r>
          </a:p>
          <a:p>
            <a:pPr algn="l">
              <a:spcAft>
                <a:spcPts val="200"/>
              </a:spcAft>
            </a:pPr>
            <a:r>
              <a:rPr sz="1200" b="0">
                <a:solidFill>
                  <a:srgbClr val="161B26"/>
                </a:solidFill>
                <a:latin typeface="Arial"/>
              </a:rPr>
              <a:t>Screen the generated answer for PII, toxicity and policy breaches before display.</a:t>
            </a:r>
          </a:p>
        </p:txBody>
      </p:sp>
      <p:sp>
        <p:nvSpPr>
          <p:cNvPr id="17" name="Rectangle 16"/>
          <p:cNvSpPr/>
          <p:nvPr/>
        </p:nvSpPr>
        <p:spPr>
          <a:xfrm>
            <a:off x="7498080" y="5177790"/>
            <a:ext cx="3913632" cy="9486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98080" y="5177790"/>
            <a:ext cx="82296" cy="9486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54112" y="5177790"/>
            <a:ext cx="3456432" cy="948690"/>
          </a:xfrm>
          <a:prstGeom prst="rect">
            <a:avLst/>
          </a:prstGeom>
          <a:noFill/>
        </p:spPr>
        <p:txBody>
          <a:bodyPr wrap="square" anchor="ctr">
            <a:spAutoFit/>
          </a:bodyPr>
          <a:lstStyle/>
          <a:p>
            <a:pPr algn="l">
              <a:spcAft>
                <a:spcPts val="200"/>
              </a:spcAft>
            </a:pPr>
            <a:r>
              <a:rPr sz="1400" b="1">
                <a:solidFill>
                  <a:srgbClr val="F59E0B"/>
                </a:solidFill>
                <a:latin typeface="Arial"/>
              </a:rPr>
              <a:t>Tripwires fail closed</a:t>
            </a:r>
          </a:p>
          <a:p>
            <a:pPr algn="l">
              <a:spcAft>
                <a:spcPts val="200"/>
              </a:spcAft>
            </a:pPr>
            <a:r>
              <a:rPr sz="1200" b="0">
                <a:solidFill>
                  <a:srgbClr val="161B26"/>
                </a:solidFill>
                <a:latin typeface="Arial"/>
              </a:rPr>
              <a:t>A triggered tripwire raises and stops execution — it does not warn and continue.</a:t>
            </a:r>
          </a:p>
        </p:txBody>
      </p:sp>
      <p:sp>
        <p:nvSpPr>
          <p:cNvPr id="20" name="TextBox 19"/>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1" name="TextBox 20"/>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LU3 · T1 — TWO APPROACHES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Rule-Based vs AI-Assisted Guardrails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Deterministic</a:t>
            </a:r>
          </a:p>
        </p:txBody>
      </p:sp>
      <p:sp>
        <p:nvSpPr>
          <p:cNvPr id="12" name="TextBox 11"/>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Contextual</a:t>
            </a:r>
          </a:p>
        </p:txBody>
      </p:sp>
      <p:sp>
        <p:nvSpPr>
          <p:cNvPr id="13" name="TextBox 12"/>
          <p:cNvSpPr txBox="1"/>
          <p:nvPr/>
        </p:nvSpPr>
        <p:spPr>
          <a:xfrm>
            <a:off x="1005840" y="2468880"/>
            <a:ext cx="4754880" cy="2971800"/>
          </a:xfrm>
          <a:prstGeom prst="rect">
            <a:avLst/>
          </a:prstGeom>
          <a:noFill/>
        </p:spPr>
        <p:txBody>
          <a:bodyPr wrap="square">
            <a:spAutoFit/>
          </a:bodyPr>
          <a:lstStyle/>
          <a:p>
            <a:pPr>
              <a:spcAft>
                <a:spcPts val="1000"/>
              </a:spcAft>
            </a:pPr>
            <a:r>
              <a:rPr sz="1500" b="1">
                <a:solidFill>
                  <a:srgbClr val="161B26"/>
                </a:solidFill>
                <a:latin typeface="Arial"/>
              </a:rPr>
              <a:t>•  Rule-based (regex, allow-lists)</a:t>
            </a:r>
          </a:p>
          <a:p>
            <a:pPr>
              <a:spcAft>
                <a:spcPts val="1000"/>
              </a:spcAft>
            </a:pPr>
            <a:r>
              <a:rPr sz="1300" b="0">
                <a:solidFill>
                  <a:srgbClr val="5B6372"/>
                </a:solidFill>
                <a:latin typeface="Arial"/>
              </a:rPr>
              <a:t>–  Fast, free and fully deterministic</a:t>
            </a:r>
          </a:p>
          <a:p>
            <a:pPr>
              <a:spcAft>
                <a:spcPts val="1000"/>
              </a:spcAft>
            </a:pPr>
            <a:r>
              <a:rPr sz="1300" b="0">
                <a:solidFill>
                  <a:srgbClr val="5B6372"/>
                </a:solidFill>
                <a:latin typeface="Arial"/>
              </a:rPr>
              <a:t>–  Perfect for formats: emails, NRIC, card numbers</a:t>
            </a:r>
          </a:p>
          <a:p>
            <a:pPr>
              <a:spcAft>
                <a:spcPts val="1000"/>
              </a:spcAft>
            </a:pPr>
            <a:r>
              <a:rPr sz="1300" b="0">
                <a:solidFill>
                  <a:srgbClr val="5B6372"/>
                </a:solidFill>
                <a:latin typeface="Arial"/>
              </a:rPr>
              <a:t>–  Cannot judge intent or context</a:t>
            </a:r>
          </a:p>
          <a:p>
            <a:pPr>
              <a:spcAft>
                <a:spcPts val="1000"/>
              </a:spcAft>
            </a:pPr>
            <a:r>
              <a:rPr sz="1300" b="0">
                <a:solidFill>
                  <a:srgbClr val="5B6372"/>
                </a:solidFill>
                <a:latin typeface="Arial"/>
              </a:rPr>
              <a:t>–  Trivially evaded by rephrasing</a:t>
            </a:r>
          </a:p>
        </p:txBody>
      </p:sp>
      <p:sp>
        <p:nvSpPr>
          <p:cNvPr id="14" name="TextBox 13"/>
          <p:cNvSpPr txBox="1"/>
          <p:nvPr/>
        </p:nvSpPr>
        <p:spPr>
          <a:xfrm>
            <a:off x="6583680" y="2468880"/>
            <a:ext cx="4617720" cy="2971800"/>
          </a:xfrm>
          <a:prstGeom prst="rect">
            <a:avLst/>
          </a:prstGeom>
          <a:noFill/>
        </p:spPr>
        <p:txBody>
          <a:bodyPr wrap="square">
            <a:spAutoFit/>
          </a:bodyPr>
          <a:lstStyle/>
          <a:p>
            <a:pPr>
              <a:spcAft>
                <a:spcPts val="1000"/>
              </a:spcAft>
            </a:pPr>
            <a:r>
              <a:rPr sz="1500" b="1">
                <a:solidFill>
                  <a:srgbClr val="161B26"/>
                </a:solidFill>
                <a:latin typeface="Arial"/>
              </a:rPr>
              <a:t>•  AI-assisted (classifier agent)</a:t>
            </a:r>
          </a:p>
          <a:p>
            <a:pPr>
              <a:spcAft>
                <a:spcPts val="1000"/>
              </a:spcAft>
            </a:pPr>
            <a:r>
              <a:rPr sz="1300" b="0">
                <a:solidFill>
                  <a:srgbClr val="5B6372"/>
                </a:solidFill>
                <a:latin typeface="Arial"/>
              </a:rPr>
              <a:t>–  Understands intent, paraphrase and context</a:t>
            </a:r>
          </a:p>
          <a:p>
            <a:pPr>
              <a:spcAft>
                <a:spcPts val="1000"/>
              </a:spcAft>
            </a:pPr>
            <a:r>
              <a:rPr sz="1300" b="0">
                <a:solidFill>
                  <a:srgbClr val="5B6372"/>
                </a:solidFill>
                <a:latin typeface="Arial"/>
              </a:rPr>
              <a:t>–  Catches novel attacks a rule never anticipated</a:t>
            </a:r>
          </a:p>
          <a:p>
            <a:pPr>
              <a:spcAft>
                <a:spcPts val="1000"/>
              </a:spcAft>
            </a:pPr>
            <a:r>
              <a:rPr sz="1300" b="0">
                <a:solidFill>
                  <a:srgbClr val="5B6372"/>
                </a:solidFill>
                <a:latin typeface="Arial"/>
              </a:rPr>
              <a:t>–  Costs a model call and adds latency</a:t>
            </a:r>
          </a:p>
          <a:p>
            <a:pPr>
              <a:spcAft>
                <a:spcPts val="1000"/>
              </a:spcAft>
            </a:pPr>
            <a:r>
              <a:rPr sz="1300" b="0">
                <a:solidFill>
                  <a:srgbClr val="5B6372"/>
                </a:solidFill>
                <a:latin typeface="Arial"/>
              </a:rPr>
              <a:t>–  Can itself be prompt-injected — use a small, narrow model</a:t>
            </a:r>
          </a:p>
        </p:txBody>
      </p:sp>
      <p:sp>
        <p:nvSpPr>
          <p:cNvPr id="15" name="TextBox 14"/>
          <p:cNvSpPr txBox="1"/>
          <p:nvPr/>
        </p:nvSpPr>
        <p:spPr>
          <a:xfrm>
            <a:off x="777240" y="5715000"/>
            <a:ext cx="10698480" cy="548640"/>
          </a:xfrm>
          <a:prstGeom prst="rect">
            <a:avLst/>
          </a:prstGeom>
          <a:noFill/>
        </p:spPr>
        <p:txBody>
          <a:bodyPr wrap="square" anchor="ctr">
            <a:spAutoFit/>
          </a:bodyPr>
          <a:lstStyle/>
          <a:p>
            <a:pPr algn="ctr">
              <a:spcAft>
                <a:spcPts val="400"/>
              </a:spcAft>
            </a:pPr>
            <a:r>
              <a:rPr sz="1300" b="0">
                <a:solidFill>
                  <a:srgbClr val="5B6372"/>
                </a:solidFill>
                <a:latin typeface="Arial"/>
              </a:rPr>
              <a:t>Production systems layer both: regex for the deterministic patterns, a cheap classifier agent for intent.</a:t>
            </a:r>
          </a:p>
        </p:txBody>
      </p:sp>
      <p:sp>
        <p:nvSpPr>
          <p:cNvPr id="16" name="TextBox 15"/>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7" name="TextBox 16"/>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600" b="1">
                <a:solidFill>
                  <a:srgbClr val="161B26"/>
                </a:solidFill>
                <a:latin typeface="Arial"/>
              </a:rPr>
              <a:t>Activity 15 — Attack Your Own Agent — Red-Team the Baseline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15  ·  45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You cannot defend what you have not attacked. Run a structured red-team pass against your un-guardrailed agent from Activity 3: prompt injection, jailbreaks, off-topic abuse, PII extraction and unsafe tool invocation — and record every success as a requirement for LU3.</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Run the un-guardrailed agent</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Try direct prompt injection</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Try a role-play jailbreak</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Try off-topic + PII extraction</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Log every success as a requirement</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 completed red-team log of attacks attempted, which succeeded, and the guardrail each one demands.</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labs/app/simple_chat.py, labs/data/redteam_log.csv</a:t>
            </a:r>
            <a:r>
              <a:rPr sz="1200" b="0">
                <a:solidFill>
                  <a:srgbClr val="5B6372"/>
                </a:solidFill>
                <a:latin typeface="Arial"/>
              </a:rPr>
              <a:t>     ·     Full step-by-step guide: Learner Guide, Activity 15</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15 minutes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16 — Implement Input Guardrails with Tripwires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16  ·  60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Block malicious input before it reaches the expensive model call. Implement an OpenAI Agents SDK input guardrail that uses a fast, cheap classifier agent to detect off-topic and injection attempts, and raises a tripwire that stops execution entirely.</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Define the Pydantic output type</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Build the classifier agent</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Decorate with @input_guardrail</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Attach to the main agent</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Re-run your Activity 15 attacks</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An input guardrail that blocks the injection and off-topic attacks you logged in Activity 15.</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OpenAI Agents SDK guardrails, Pydantic, labs/app/guarded_chat.py</a:t>
            </a:r>
            <a:r>
              <a:rPr sz="1200" b="0">
                <a:solidFill>
                  <a:srgbClr val="5B6372"/>
                </a:solidFill>
                <a:latin typeface="Arial"/>
              </a:rPr>
              <a:t>     ·     Full step-by-step guide: Learner Guide, Activity 16</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Activity 17 — Implement Output Guardrails — PII and Content Filtering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17  ·  60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Screen what the agent produces before the user ever sees it. Add an output guardrail that detects and redacts personally identifiable information leaking from the invoice RAG corpus, and blocks unsafe or policy-violating content.</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Identify PII in the corpus</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Write regex redaction</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Add an LLM policy checker</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Wire the @output_guardrail</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Verify PII never reaches the UI</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An output guardrail that redacts PII from RAG answers and blocks policy-violating responses.</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OpenAI Agents SDK output guardrails, Python re, labs/app/invoice_rag.py</a:t>
            </a:r>
            <a:r>
              <a:rPr sz="1200" b="0">
                <a:solidFill>
                  <a:srgbClr val="5B6372"/>
                </a:solidFill>
                <a:latin typeface="Arial"/>
              </a:rPr>
              <a:t>     ·     Full step-by-step guide: Learner Guide, Activity 17</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 hour</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LU3 · T2 — MODEL ALIGNMENT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Model Alignment for Safety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HHH goal</a:t>
            </a:r>
          </a:p>
          <a:p>
            <a:pPr algn="l">
              <a:spcAft>
                <a:spcPts val="300"/>
              </a:spcAft>
            </a:pPr>
            <a:r>
              <a:rPr sz="1100" b="0">
                <a:solidFill>
                  <a:srgbClr val="5B6372"/>
                </a:solidFill>
                <a:latin typeface="Arial"/>
              </a:rPr>
              <a:t>Helpful, Harmless and Honest — the three properties alignment training optimises for.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RLHF</a:t>
            </a:r>
          </a:p>
          <a:p>
            <a:pPr algn="l">
              <a:spcAft>
                <a:spcPts val="300"/>
              </a:spcAft>
            </a:pPr>
            <a:r>
              <a:rPr sz="1100" b="0">
                <a:solidFill>
                  <a:srgbClr val="5B6372"/>
                </a:solidFill>
                <a:latin typeface="Arial"/>
              </a:rPr>
              <a:t>Reinforcement Learning from Human Feedback: humans rank outputs, a reward model trains the policy.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DPO</a:t>
            </a:r>
          </a:p>
          <a:p>
            <a:pPr algn="l">
              <a:spcAft>
                <a:spcPts val="300"/>
              </a:spcAft>
            </a:pPr>
            <a:r>
              <a:rPr sz="1100" b="0">
                <a:solidFill>
                  <a:srgbClr val="5B6372"/>
                </a:solidFill>
                <a:latin typeface="Arial"/>
              </a:rPr>
              <a:t>Direct Preference Optimization learns from preference pairs directly — simpler and cheaper than RLHF.</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Constitutional AI</a:t>
            </a:r>
          </a:p>
          <a:p>
            <a:pPr algn="l">
              <a:spcAft>
                <a:spcPts val="300"/>
              </a:spcAft>
            </a:pPr>
            <a:r>
              <a:rPr sz="1100" b="0">
                <a:solidFill>
                  <a:srgbClr val="5B6372"/>
                </a:solidFill>
                <a:latin typeface="Arial"/>
              </a:rPr>
              <a:t>The model critiques and revises its own output against an explicit written set of principles.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Shallow vs deep alignment</a:t>
            </a:r>
          </a:p>
          <a:p>
            <a:pPr algn="l">
              <a:spcAft>
                <a:spcPts val="300"/>
              </a:spcAft>
            </a:pPr>
            <a:r>
              <a:rPr sz="1100" b="0">
                <a:solidFill>
                  <a:srgbClr val="5B6372"/>
                </a:solidFill>
                <a:latin typeface="Arial"/>
              </a:rPr>
              <a:t>Shallow alignment refuses the obvious phrasing; deep alignment resists rephrased attacks.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Alignment is not enough</a:t>
            </a:r>
          </a:p>
          <a:p>
            <a:pPr algn="l">
              <a:spcAft>
                <a:spcPts val="300"/>
              </a:spcAft>
            </a:pPr>
            <a:r>
              <a:rPr sz="1100" b="0">
                <a:solidFill>
                  <a:srgbClr val="5B6372"/>
                </a:solidFill>
                <a:latin typeface="Arial"/>
              </a:rPr>
              <a:t>Every aligned model can still be jailbroken — which is exactly why you add guardrails.</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LU3 · T2 — WHO OWNS SAFETY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Alignment vs Guardrails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lignment_vs_guardrails.png"/>
          <p:cNvPicPr>
            <a:picLocks noChangeAspect="1"/>
          </p:cNvPicPr>
          <p:nvPr/>
        </p:nvPicPr>
        <p:blipFill>
          <a:blip r:embed="rId2"/>
          <a:stretch>
            <a:fillRect/>
          </a:stretch>
        </p:blipFill>
        <p:spPr>
          <a:xfrm>
            <a:off x="1620185" y="1737360"/>
            <a:ext cx="8951325" cy="3977639"/>
          </a:xfrm>
          <a:prstGeom prst="rect">
            <a:avLst/>
          </a:prstGeom>
        </p:spPr>
      </p:pic>
      <p:sp>
        <p:nvSpPr>
          <p:cNvPr id="8" name="Rectangle 7"/>
          <p:cNvSpPr/>
          <p:nvPr/>
        </p:nvSpPr>
        <p:spPr>
          <a:xfrm>
            <a:off x="777240" y="5760720"/>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5760720"/>
            <a:ext cx="10241280" cy="566928"/>
          </a:xfrm>
          <a:prstGeom prst="rect">
            <a:avLst/>
          </a:prstGeom>
          <a:noFill/>
        </p:spPr>
        <p:txBody>
          <a:bodyPr wrap="square" anchor="ctr">
            <a:spAutoFit/>
          </a:bodyPr>
          <a:lstStyle/>
          <a:p>
            <a:pPr algn="l">
              <a:spcAft>
                <a:spcPts val="400"/>
              </a:spcAft>
            </a:pPr>
            <a:r>
              <a:rPr sz="1400" b="0">
                <a:solidFill>
                  <a:srgbClr val="161B26"/>
                </a:solidFill>
                <a:latin typeface="Arial"/>
              </a:rPr>
              <a:t>Alignment is trained by the model provider and applies generally. Guardrails are built by YOU, enforce your application's policy, and are auditable per request.</a:t>
            </a:r>
          </a:p>
        </p:txBody>
      </p:sp>
      <p:sp>
        <p:nvSpPr>
          <p:cNvPr id="10" name="TextBox 9"/>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11" name="TextBox 10"/>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400" b="1">
                <a:solidFill>
                  <a:srgbClr val="161B26"/>
                </a:solidFill>
                <a:latin typeface="Arial"/>
              </a:rPr>
              <a:t>Activity 18 — Evaluate Model Alignment — Helpful, Harmless, Honest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18  ·  45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Alignment is trained into the model; guardrails are added by you. Build a small evaluation suite that scores your agent on helpfulness, harmlessness and honesty, and measure how RLHF-style alignment and your runtime guardrails contribute differently to the result.</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Write 10 evaluation prompts</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Score helpfulness 1-5</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Score harmlessness 1-5</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Score honesty 1-5</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Compare guarded vs un-guarded</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 scored alignment evaluation across ten prompts, with the helpful/harmless/honest profile of your agent.</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Python, labs/data/alignment_eval.csv</a:t>
            </a:r>
            <a:r>
              <a:rPr sz="1200" b="0">
                <a:solidFill>
                  <a:srgbClr val="5B6372"/>
                </a:solidFill>
                <a:latin typeface="Arial"/>
              </a:rPr>
              <a:t>     ·     Full step-by-step guide: Learner Guide, Activity 18</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LU3 · T3 — DEPLOY GUARDRAILS ON AGENTIC AI APPS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Deploying Guardrails in Production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Risk-based routing</a:t>
            </a:r>
          </a:p>
          <a:p>
            <a:pPr algn="l">
              <a:spcAft>
                <a:spcPts val="300"/>
              </a:spcAft>
            </a:pPr>
            <a:r>
              <a:rPr sz="1100" b="0">
                <a:solidFill>
                  <a:srgbClr val="5B6372"/>
                </a:solidFill>
                <a:latin typeface="Arial"/>
              </a:rPr>
              <a:t>Low-risk actions run automatically; high-risk actions require a human approval click.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Fail closed</a:t>
            </a:r>
          </a:p>
          <a:p>
            <a:pPr algn="l">
              <a:spcAft>
                <a:spcPts val="300"/>
              </a:spcAft>
            </a:pPr>
            <a:r>
              <a:rPr sz="1100" b="0">
                <a:solidFill>
                  <a:srgbClr val="5B6372"/>
                </a:solidFill>
                <a:latin typeface="Arial"/>
              </a:rPr>
              <a:t>When a guardrail errors or is uncertain, block — never let uncertainty default to allow.</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Audit everything</a:t>
            </a:r>
          </a:p>
          <a:p>
            <a:pPr algn="l">
              <a:spcAft>
                <a:spcPts val="300"/>
              </a:spcAft>
            </a:pPr>
            <a:r>
              <a:rPr sz="1100" b="0">
                <a:solidFill>
                  <a:srgbClr val="5B6372"/>
                </a:solidFill>
                <a:latin typeface="Arial"/>
              </a:rPr>
              <a:t>Append-only logs of prompt, decision, risk and approver make incidents reconstructable.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Monitor continuously</a:t>
            </a:r>
          </a:p>
          <a:p>
            <a:pPr algn="l">
              <a:spcAft>
                <a:spcPts val="300"/>
              </a:spcAft>
            </a:pPr>
            <a:r>
              <a:rPr sz="1100" b="0">
                <a:solidFill>
                  <a:srgbClr val="5B6372"/>
                </a:solidFill>
                <a:latin typeface="Arial"/>
              </a:rPr>
              <a:t>Track block rates and false positives — over-blocking destroys the product's usefulness.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Update as attacks evolve</a:t>
            </a:r>
          </a:p>
          <a:p>
            <a:pPr algn="l">
              <a:spcAft>
                <a:spcPts val="300"/>
              </a:spcAft>
            </a:pPr>
            <a:r>
              <a:rPr sz="1100" b="0">
                <a:solidFill>
                  <a:srgbClr val="5B6372"/>
                </a:solidFill>
                <a:latin typeface="Arial"/>
              </a:rPr>
              <a:t>Red-team on a schedule; yesterday's guardrail does not stop tomorrow's phrasing.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Guard latency and cost</a:t>
            </a:r>
          </a:p>
          <a:p>
            <a:pPr algn="l">
              <a:spcAft>
                <a:spcPts val="300"/>
              </a:spcAft>
            </a:pPr>
            <a:r>
              <a:rPr sz="1100" b="0">
                <a:solidFill>
                  <a:srgbClr val="5B6372"/>
                </a:solidFill>
                <a:latin typeface="Arial"/>
              </a:rPr>
              <a:t>Every guardrail is an extra call — use small, fast models on the hot path.</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LU3 · T3 — BEFORE YOU SHIP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Production Go-Live Checklist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62432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Secrets in the Secrets manager — never in the repository</a:t>
            </a:r>
          </a:p>
        </p:txBody>
      </p:sp>
      <p:sp>
        <p:nvSpPr>
          <p:cNvPr id="12" name="TextBox 11"/>
          <p:cNvSpPr txBox="1"/>
          <p:nvPr/>
        </p:nvSpPr>
        <p:spPr>
          <a:xfrm>
            <a:off x="2618841" y="340614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3" name="Rectangle 12"/>
          <p:cNvSpPr/>
          <p:nvPr/>
        </p:nvSpPr>
        <p:spPr>
          <a:xfrm>
            <a:off x="2966313"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24028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62432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Input guardrails block injection and off-topic requests</a:t>
            </a:r>
          </a:p>
        </p:txBody>
      </p:sp>
      <p:sp>
        <p:nvSpPr>
          <p:cNvPr id="18" name="TextBox 17"/>
          <p:cNvSpPr txBox="1"/>
          <p:nvPr/>
        </p:nvSpPr>
        <p:spPr>
          <a:xfrm>
            <a:off x="4807914" y="340614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9" name="Rectangle 18"/>
          <p:cNvSpPr/>
          <p:nvPr/>
        </p:nvSpPr>
        <p:spPr>
          <a:xfrm>
            <a:off x="5155386"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24028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62432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Output filtering redacts PII and unsafe content</a:t>
            </a:r>
          </a:p>
        </p:txBody>
      </p:sp>
      <p:sp>
        <p:nvSpPr>
          <p:cNvPr id="24" name="TextBox 23"/>
          <p:cNvSpPr txBox="1"/>
          <p:nvPr/>
        </p:nvSpPr>
        <p:spPr>
          <a:xfrm>
            <a:off x="6996987" y="340614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5" name="Rectangle 24"/>
          <p:cNvSpPr/>
          <p:nvPr/>
        </p:nvSpPr>
        <p:spPr>
          <a:xfrm>
            <a:off x="7344459"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24028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62432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Human approval gate on every high-risk action</a:t>
            </a:r>
          </a:p>
        </p:txBody>
      </p:sp>
      <p:sp>
        <p:nvSpPr>
          <p:cNvPr id="30" name="TextBox 29"/>
          <p:cNvSpPr txBox="1"/>
          <p:nvPr/>
        </p:nvSpPr>
        <p:spPr>
          <a:xfrm>
            <a:off x="9186060" y="340614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1" name="Rectangle 30"/>
          <p:cNvSpPr/>
          <p:nvPr/>
        </p:nvSpPr>
        <p:spPr>
          <a:xfrm>
            <a:off x="9533532"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24028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62432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Audit log, spend cap and error handling in place</a:t>
            </a:r>
          </a:p>
        </p:txBody>
      </p:sp>
      <p:sp>
        <p:nvSpPr>
          <p:cNvPr id="36" name="TextBox 35"/>
          <p:cNvSpPr txBox="1"/>
          <p:nvPr/>
        </p:nvSpPr>
        <p:spPr>
          <a:xfrm>
            <a:off x="777240" y="5440680"/>
            <a:ext cx="10698480" cy="640080"/>
          </a:xfrm>
          <a:prstGeom prst="rect">
            <a:avLst/>
          </a:prstGeom>
          <a:noFill/>
        </p:spPr>
        <p:txBody>
          <a:bodyPr wrap="square" anchor="t">
            <a:spAutoFit/>
          </a:bodyPr>
          <a:lstStyle/>
          <a:p>
            <a:pPr algn="ctr">
              <a:spcAft>
                <a:spcPts val="400"/>
              </a:spcAft>
            </a:pPr>
            <a:r>
              <a:rPr sz="1400" b="0">
                <a:solidFill>
                  <a:srgbClr val="5B6372"/>
                </a:solidFill>
                <a:latin typeface="Arial"/>
              </a:rPr>
              <a:t>Activity 20 is exactly this checklist, verified by re-running your Activity 15 attacks against the live public URL.</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Activity 19 — Add Human Oversight and an Audit Log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19  ·  45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Automated guardrails cannot judge every case. Add a risk-based approval gate that routes high-impact or low-confidence actions to a human before execution, and write an audit log that records every guardrail decision for later review.</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Classify actions by risk</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Auto-approve low risk</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Gate high risk on a human click</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Log every decision to JSONL</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Review the audit trail</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An agent with a human-approval gate on high-risk actions and a persistent JSONL audit log of every decision.</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Streamlit, Python logging, labs/app/guarded_chat.py (the audit log is created when you run this step)</a:t>
            </a:r>
            <a:r>
              <a:rPr sz="1200" b="0">
                <a:solidFill>
                  <a:srgbClr val="5B6372"/>
                </a:solidFill>
                <a:latin typeface="Arial"/>
              </a:rPr>
              <a:t>     ·     Full step-by-step guide: Learner Guide, Activity 19</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15 minutes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400" b="1">
                <a:solidFill>
                  <a:srgbClr val="161B26"/>
                </a:solidFill>
                <a:latin typeface="Arial"/>
              </a:rPr>
              <a:t>Activity 20 — Deploy the Guardrailed Agentic AI App to Production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64040" y="457200"/>
            <a:ext cx="19476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457200"/>
            <a:ext cx="1947672" cy="384048"/>
          </a:xfrm>
          <a:prstGeom prst="rect">
            <a:avLst/>
          </a:prstGeom>
          <a:noFill/>
        </p:spPr>
        <p:txBody>
          <a:bodyPr wrap="square" anchor="ctr">
            <a:spAutoFit/>
          </a:bodyPr>
          <a:lstStyle/>
          <a:p>
            <a:pPr algn="ctr">
              <a:spcAft>
                <a:spcPts val="400"/>
              </a:spcAft>
            </a:pPr>
            <a:r>
              <a:rPr sz="1300" b="1">
                <a:solidFill>
                  <a:srgbClr val="FFFFFF"/>
                </a:solidFill>
                <a:latin typeface="Arial"/>
              </a:rPr>
              <a:t>ACTIVITY 20  ·  75 MIN</a:t>
            </a:r>
          </a:p>
        </p:txBody>
      </p:sp>
      <p:sp>
        <p:nvSpPr>
          <p:cNvPr id="9" name="TextBox 8"/>
          <p:cNvSpPr txBox="1"/>
          <p:nvPr/>
        </p:nvSpPr>
        <p:spPr>
          <a:xfrm>
            <a:off x="777240" y="1755648"/>
            <a:ext cx="10698480" cy="1051560"/>
          </a:xfrm>
          <a:prstGeom prst="rect">
            <a:avLst/>
          </a:prstGeom>
          <a:noFill/>
        </p:spPr>
        <p:txBody>
          <a:bodyPr wrap="square" anchor="t">
            <a:spAutoFit/>
          </a:bodyPr>
          <a:lstStyle/>
          <a:p>
            <a:pPr algn="l">
              <a:spcAft>
                <a:spcPts val="400"/>
              </a:spcAft>
            </a:pPr>
            <a:r>
              <a:rPr sz="1500" b="0">
                <a:solidFill>
                  <a:srgbClr val="161B26"/>
                </a:solidFill>
                <a:latin typeface="Arial"/>
              </a:rPr>
              <a:t>Bring the whole course together: deploy the fully guardrailed multi-agent application to Streamlit Cloud with input guardrails, output filtering, human oversight, audit logging and spend controls, then verify the deployed app resists the attacks from Activity 15.</a:t>
            </a:r>
          </a:p>
        </p:txBody>
      </p:sp>
      <p:sp>
        <p:nvSpPr>
          <p:cNvPr id="10" name="Rectangle 9"/>
          <p:cNvSpPr/>
          <p:nvPr/>
        </p:nvSpPr>
        <p:spPr>
          <a:xfrm>
            <a:off x="777240"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89557"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9557"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4" name="TextBox 13"/>
          <p:cNvSpPr txBox="1"/>
          <p:nvPr/>
        </p:nvSpPr>
        <p:spPr>
          <a:xfrm>
            <a:off x="886968"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Assemble all guardrails in one app</a:t>
            </a:r>
          </a:p>
        </p:txBody>
      </p:sp>
      <p:sp>
        <p:nvSpPr>
          <p:cNvPr id="15" name="TextBox 14"/>
          <p:cNvSpPr txBox="1"/>
          <p:nvPr/>
        </p:nvSpPr>
        <p:spPr>
          <a:xfrm>
            <a:off x="2659075"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16" name="Rectangle 15"/>
          <p:cNvSpPr/>
          <p:nvPr/>
        </p:nvSpPr>
        <p:spPr>
          <a:xfrm>
            <a:off x="2951683"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1683"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64000"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4000"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20" name="TextBox 19"/>
          <p:cNvSpPr txBox="1"/>
          <p:nvPr/>
        </p:nvSpPr>
        <p:spPr>
          <a:xfrm>
            <a:off x="3061411"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Push and deploy to Streamlit Cloud</a:t>
            </a:r>
          </a:p>
        </p:txBody>
      </p:sp>
      <p:sp>
        <p:nvSpPr>
          <p:cNvPr id="21" name="TextBox 20"/>
          <p:cNvSpPr txBox="1"/>
          <p:nvPr/>
        </p:nvSpPr>
        <p:spPr>
          <a:xfrm>
            <a:off x="4833518"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2" name="Rectangle 21"/>
          <p:cNvSpPr/>
          <p:nvPr/>
        </p:nvSpPr>
        <p:spPr>
          <a:xfrm>
            <a:off x="5126126"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6126"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38443"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38443"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6" name="TextBox 25"/>
          <p:cNvSpPr txBox="1"/>
          <p:nvPr/>
        </p:nvSpPr>
        <p:spPr>
          <a:xfrm>
            <a:off x="5235854"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Configure Secrets + spend caps</a:t>
            </a:r>
          </a:p>
        </p:txBody>
      </p:sp>
      <p:sp>
        <p:nvSpPr>
          <p:cNvPr id="27" name="TextBox 26"/>
          <p:cNvSpPr txBox="1"/>
          <p:nvPr/>
        </p:nvSpPr>
        <p:spPr>
          <a:xfrm>
            <a:off x="7007961"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28" name="Rectangle 27"/>
          <p:cNvSpPr/>
          <p:nvPr/>
        </p:nvSpPr>
        <p:spPr>
          <a:xfrm>
            <a:off x="7300569"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0569"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2886"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2886"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2" name="TextBox 31"/>
          <p:cNvSpPr txBox="1"/>
          <p:nvPr/>
        </p:nvSpPr>
        <p:spPr>
          <a:xfrm>
            <a:off x="7410297"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Re-run the Activity 15 attacks</a:t>
            </a:r>
          </a:p>
        </p:txBody>
      </p:sp>
      <p:sp>
        <p:nvSpPr>
          <p:cNvPr id="33" name="TextBox 32"/>
          <p:cNvSpPr txBox="1"/>
          <p:nvPr/>
        </p:nvSpPr>
        <p:spPr>
          <a:xfrm>
            <a:off x="9182404" y="3515868"/>
            <a:ext cx="347472" cy="457200"/>
          </a:xfrm>
          <a:prstGeom prst="rect">
            <a:avLst/>
          </a:prstGeom>
          <a:noFill/>
        </p:spPr>
        <p:txBody>
          <a:bodyPr wrap="square" anchor="ctr">
            <a:spAutoFit/>
          </a:bodyPr>
          <a:lstStyle/>
          <a:p>
            <a:pPr algn="ctr">
              <a:spcAft>
                <a:spcPts val="400"/>
              </a:spcAft>
            </a:pPr>
            <a:r>
              <a:rPr sz="1200" b="1">
                <a:solidFill>
                  <a:srgbClr val="10B981"/>
                </a:solidFill>
                <a:latin typeface="Arial"/>
              </a:rPr>
              <a:t>▶</a:t>
            </a:r>
          </a:p>
        </p:txBody>
      </p:sp>
      <p:sp>
        <p:nvSpPr>
          <p:cNvPr id="34" name="Rectangle 33"/>
          <p:cNvSpPr/>
          <p:nvPr/>
        </p:nvSpPr>
        <p:spPr>
          <a:xfrm>
            <a:off x="9475012" y="2880360"/>
            <a:ext cx="1936699"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5012" y="2880360"/>
            <a:ext cx="1936699"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87329" y="309981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87329" y="30998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5</a:t>
            </a:r>
          </a:p>
        </p:txBody>
      </p:sp>
      <p:sp>
        <p:nvSpPr>
          <p:cNvPr id="38" name="TextBox 37"/>
          <p:cNvSpPr txBox="1"/>
          <p:nvPr/>
        </p:nvSpPr>
        <p:spPr>
          <a:xfrm>
            <a:off x="9584740" y="3749040"/>
            <a:ext cx="1717243" cy="822960"/>
          </a:xfrm>
          <a:prstGeom prst="rect">
            <a:avLst/>
          </a:prstGeom>
          <a:noFill/>
        </p:spPr>
        <p:txBody>
          <a:bodyPr wrap="square" anchor="t">
            <a:spAutoFit/>
          </a:bodyPr>
          <a:lstStyle/>
          <a:p>
            <a:pPr algn="ctr">
              <a:spcAft>
                <a:spcPts val="400"/>
              </a:spcAft>
            </a:pPr>
            <a:r>
              <a:rPr sz="1150" b="0">
                <a:solidFill>
                  <a:srgbClr val="161B26"/>
                </a:solidFill>
                <a:latin typeface="Arial"/>
              </a:rPr>
              <a:t>Complete the go-live checklist</a:t>
            </a:r>
          </a:p>
        </p:txBody>
      </p:sp>
      <p:sp>
        <p:nvSpPr>
          <p:cNvPr id="39" name="Rectangle 38"/>
          <p:cNvSpPr/>
          <p:nvPr/>
        </p:nvSpPr>
        <p:spPr>
          <a:xfrm>
            <a:off x="777240" y="4892040"/>
            <a:ext cx="10634472" cy="84124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 y="4892040"/>
            <a:ext cx="10241280" cy="841248"/>
          </a:xfrm>
          <a:prstGeom prst="rect">
            <a:avLst/>
          </a:prstGeom>
          <a:noFill/>
        </p:spPr>
        <p:txBody>
          <a:bodyPr wrap="square" anchor="ctr">
            <a:spAutoFit/>
          </a:bodyPr>
          <a:lstStyle/>
          <a:p>
            <a:pPr algn="l">
              <a:spcAft>
                <a:spcPts val="400"/>
              </a:spcAft>
            </a:pPr>
            <a:r>
              <a:rPr sz="1200" b="1">
                <a:solidFill>
                  <a:srgbClr val="127A3E"/>
                </a:solidFill>
                <a:latin typeface="Arial"/>
              </a:rPr>
              <a:t>YOU'LL PRODUCE   </a:t>
            </a:r>
            <a:r>
              <a:rPr sz="1300" b="0">
                <a:solidFill>
                  <a:srgbClr val="161B26"/>
                </a:solidFill>
                <a:latin typeface="Arial"/>
              </a:rPr>
              <a:t>A publicly deployed, fully guardrailed Agentic AI application that passes a live red-team re-test.</a:t>
            </a:r>
          </a:p>
        </p:txBody>
      </p:sp>
      <p:sp>
        <p:nvSpPr>
          <p:cNvPr id="41" name="TextBox 40"/>
          <p:cNvSpPr txBox="1"/>
          <p:nvPr/>
        </p:nvSpPr>
        <p:spPr>
          <a:xfrm>
            <a:off x="777240" y="5833872"/>
            <a:ext cx="10634472" cy="45720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Streamlit Community Cloud, GitHub, Streamlit Secrets, all prior activity code</a:t>
            </a:r>
            <a:r>
              <a:rPr sz="1200" b="0">
                <a:solidFill>
                  <a:srgbClr val="5B6372"/>
                </a:solidFill>
                <a:latin typeface="Arial"/>
              </a:rPr>
              <a:t>     ·     Full step-by-step guide: Learner Guide, Activity 20</a:t>
            </a:r>
          </a:p>
        </p:txBody>
      </p:sp>
      <p:sp>
        <p:nvSpPr>
          <p:cNvPr id="42" name="TextBox 4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43" name="TextBox 4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LU3 · LEARNING OUTCOME 3 ACHIEVED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Recap — Learning Unit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You can name the concrete threats guardrails defend against, and red-team your own agent for them.</a:t>
            </a:r>
          </a:p>
          <a:p>
            <a:pPr>
              <a:spcAft>
                <a:spcPts val="1000"/>
              </a:spcAft>
            </a:pPr>
            <a:r>
              <a:rPr sz="1700" b="0">
                <a:solidFill>
                  <a:srgbClr val="161B26"/>
                </a:solidFill>
                <a:latin typeface="Arial"/>
              </a:rPr>
              <a:t>•  You have implemented input guardrails with tripwires that block injection and off-topic abuse.</a:t>
            </a:r>
          </a:p>
          <a:p>
            <a:pPr>
              <a:spcAft>
                <a:spcPts val="1000"/>
              </a:spcAft>
            </a:pPr>
            <a:r>
              <a:rPr sz="1700" b="0">
                <a:solidFill>
                  <a:srgbClr val="161B26"/>
                </a:solidFill>
                <a:latin typeface="Arial"/>
              </a:rPr>
              <a:t>•  You have implemented output guardrails that redact PII and block policy-violating content.</a:t>
            </a:r>
          </a:p>
          <a:p>
            <a:pPr>
              <a:spcAft>
                <a:spcPts val="1000"/>
              </a:spcAft>
            </a:pPr>
            <a:r>
              <a:rPr sz="1700" b="0">
                <a:solidFill>
                  <a:srgbClr val="161B26"/>
                </a:solidFill>
                <a:latin typeface="Arial"/>
              </a:rPr>
              <a:t>•  You can distinguish model alignment (training-time) from runtime guardrails (yours, auditable).</a:t>
            </a:r>
          </a:p>
          <a:p>
            <a:pPr>
              <a:spcAft>
                <a:spcPts val="1000"/>
              </a:spcAft>
            </a:pPr>
            <a:r>
              <a:rPr sz="1700" b="0">
                <a:solidFill>
                  <a:srgbClr val="161B26"/>
                </a:solidFill>
                <a:latin typeface="Arial"/>
              </a:rPr>
              <a:t>•  You have deployed a fully guardrailed agentic app that survives a live red-team re-test.</a:t>
            </a:r>
          </a:p>
        </p:txBody>
      </p:sp>
      <p:sp>
        <p:nvSpPr>
          <p:cNvPr id="8" name="TextBox 7"/>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9" name="TextBox 8"/>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9" name="TextBox 8"/>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 DELIVERED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77393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7739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347472"/>
          </a:xfrm>
          <a:prstGeom prst="rect">
            <a:avLst/>
          </a:prstGeom>
          <a:noFill/>
        </p:spPr>
        <p:txBody>
          <a:bodyPr wrap="square" anchor="ctr">
            <a:spAutoFit/>
          </a:bodyPr>
          <a:lstStyle/>
          <a:p>
            <a:pPr algn="l">
              <a:spcAft>
                <a:spcPts val="300"/>
              </a:spcAft>
            </a:pPr>
            <a:r>
              <a:rPr sz="1450" b="1">
                <a:solidFill>
                  <a:srgbClr val="161B26"/>
                </a:solidFill>
                <a:latin typeface="Arial"/>
              </a:rPr>
              <a:t>Agentic AI frameworks</a:t>
            </a:r>
          </a:p>
          <a:p>
            <a:pPr algn="l">
              <a:spcAft>
                <a:spcPts val="300"/>
              </a:spcAft>
            </a:pPr>
            <a:r>
              <a:rPr sz="1050" b="0">
                <a:solidFill>
                  <a:srgbClr val="5B6372"/>
                </a:solidFill>
                <a:latin typeface="Arial"/>
              </a:rPr>
              <a:t>Built agents in CrewAI, AutoGen and the OpenAI Agents SDK, and justified framework choice. (LO1)</a:t>
            </a:r>
          </a:p>
        </p:txBody>
      </p:sp>
      <p:sp>
        <p:nvSpPr>
          <p:cNvPr id="12" name="Rectangle 11"/>
          <p:cNvSpPr/>
          <p:nvPr/>
        </p:nvSpPr>
        <p:spPr>
          <a:xfrm>
            <a:off x="777240" y="2551176"/>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51176"/>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679192"/>
            <a:ext cx="9427464" cy="347472"/>
          </a:xfrm>
          <a:prstGeom prst="rect">
            <a:avLst/>
          </a:prstGeom>
          <a:noFill/>
        </p:spPr>
        <p:txBody>
          <a:bodyPr wrap="square" anchor="ctr">
            <a:spAutoFit/>
          </a:bodyPr>
          <a:lstStyle/>
          <a:p>
            <a:pPr algn="l">
              <a:spcAft>
                <a:spcPts val="300"/>
              </a:spcAft>
            </a:pPr>
            <a:r>
              <a:rPr sz="1450" b="1">
                <a:solidFill>
                  <a:srgbClr val="161B26"/>
                </a:solidFill>
                <a:latin typeface="Arial"/>
              </a:rPr>
              <a:t>Multi-agent workflows</a:t>
            </a:r>
          </a:p>
          <a:p>
            <a:pPr algn="l">
              <a:spcAft>
                <a:spcPts val="300"/>
              </a:spcAft>
            </a:pPr>
            <a:r>
              <a:rPr sz="1050" b="0">
                <a:solidFill>
                  <a:srgbClr val="5B6372"/>
                </a:solidFill>
                <a:latin typeface="Arial"/>
              </a:rPr>
              <a:t>Designed and implemented sequential, router, parallel and reflection orchestration. (LO1)</a:t>
            </a:r>
          </a:p>
        </p:txBody>
      </p:sp>
      <p:sp>
        <p:nvSpPr>
          <p:cNvPr id="17" name="Rectangle 16"/>
          <p:cNvSpPr/>
          <p:nvPr/>
        </p:nvSpPr>
        <p:spPr>
          <a:xfrm>
            <a:off x="777240" y="3319272"/>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31012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31012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9427464" cy="347472"/>
          </a:xfrm>
          <a:prstGeom prst="rect">
            <a:avLst/>
          </a:prstGeom>
          <a:noFill/>
        </p:spPr>
        <p:txBody>
          <a:bodyPr wrap="square" anchor="ctr">
            <a:spAutoFit/>
          </a:bodyPr>
          <a:lstStyle/>
          <a:p>
            <a:pPr algn="l">
              <a:spcAft>
                <a:spcPts val="300"/>
              </a:spcAft>
            </a:pPr>
            <a:r>
              <a:rPr sz="1450" b="1">
                <a:solidFill>
                  <a:srgbClr val="161B26"/>
                </a:solidFill>
                <a:latin typeface="Arial"/>
              </a:rPr>
              <a:t>RAG and context augmentation</a:t>
            </a:r>
          </a:p>
          <a:p>
            <a:pPr algn="l">
              <a:spcAft>
                <a:spcPts val="300"/>
              </a:spcAft>
            </a:pPr>
            <a:r>
              <a:rPr sz="1050" b="0">
                <a:solidFill>
                  <a:srgbClr val="5B6372"/>
                </a:solidFill>
                <a:latin typeface="Arial"/>
              </a:rPr>
              <a:t>Built a full RAG pipeline, tuned retrieval and modelled a knowledge graph. (LO2)</a:t>
            </a:r>
          </a:p>
        </p:txBody>
      </p:sp>
      <p:sp>
        <p:nvSpPr>
          <p:cNvPr id="22" name="Rectangle 21"/>
          <p:cNvSpPr/>
          <p:nvPr/>
        </p:nvSpPr>
        <p:spPr>
          <a:xfrm>
            <a:off x="777240" y="4087368"/>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87368"/>
            <a:ext cx="91440" cy="5303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07822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0782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215384"/>
            <a:ext cx="9427464" cy="347472"/>
          </a:xfrm>
          <a:prstGeom prst="rect">
            <a:avLst/>
          </a:prstGeom>
          <a:noFill/>
        </p:spPr>
        <p:txBody>
          <a:bodyPr wrap="square" anchor="ctr">
            <a:spAutoFit/>
          </a:bodyPr>
          <a:lstStyle/>
          <a:p>
            <a:pPr algn="l">
              <a:spcAft>
                <a:spcPts val="300"/>
              </a:spcAft>
            </a:pPr>
            <a:r>
              <a:rPr sz="1450" b="1">
                <a:solidFill>
                  <a:srgbClr val="161B26"/>
                </a:solidFill>
                <a:latin typeface="Arial"/>
              </a:rPr>
              <a:t>Cloud deployment</a:t>
            </a:r>
          </a:p>
          <a:p>
            <a:pPr algn="l">
              <a:spcAft>
                <a:spcPts val="300"/>
              </a:spcAft>
            </a:pPr>
            <a:r>
              <a:rPr sz="1050" b="0">
                <a:solidFill>
                  <a:srgbClr val="5B6372"/>
                </a:solidFill>
                <a:latin typeface="Arial"/>
              </a:rPr>
              <a:t>Deployed RAG and multi-agent apps to public Streamlit Cloud URLs with managed secrets. (LO2)</a:t>
            </a:r>
          </a:p>
        </p:txBody>
      </p:sp>
      <p:sp>
        <p:nvSpPr>
          <p:cNvPr id="27" name="Rectangle 26"/>
          <p:cNvSpPr/>
          <p:nvPr/>
        </p:nvSpPr>
        <p:spPr>
          <a:xfrm>
            <a:off x="777240" y="4855464"/>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84632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9427464" cy="347472"/>
          </a:xfrm>
          <a:prstGeom prst="rect">
            <a:avLst/>
          </a:prstGeom>
          <a:noFill/>
        </p:spPr>
        <p:txBody>
          <a:bodyPr wrap="square" anchor="ctr">
            <a:spAutoFit/>
          </a:bodyPr>
          <a:lstStyle/>
          <a:p>
            <a:pPr algn="l">
              <a:spcAft>
                <a:spcPts val="300"/>
              </a:spcAft>
            </a:pPr>
            <a:r>
              <a:rPr sz="1450" b="1">
                <a:solidFill>
                  <a:srgbClr val="161B26"/>
                </a:solidFill>
                <a:latin typeface="Arial"/>
              </a:rPr>
              <a:t>Error diagnosis</a:t>
            </a:r>
          </a:p>
          <a:p>
            <a:pPr algn="l">
              <a:spcAft>
                <a:spcPts val="300"/>
              </a:spcAft>
            </a:pPr>
            <a:r>
              <a:rPr sz="1050" b="0">
                <a:solidFill>
                  <a:srgbClr val="5B6372"/>
                </a:solidFill>
                <a:latin typeface="Arial"/>
              </a:rPr>
              <a:t>Triaged build, start, run-time and tool-call failures from real logs. (LO2)</a:t>
            </a:r>
          </a:p>
        </p:txBody>
      </p:sp>
      <p:sp>
        <p:nvSpPr>
          <p:cNvPr id="32" name="Rectangle 31"/>
          <p:cNvSpPr/>
          <p:nvPr/>
        </p:nvSpPr>
        <p:spPr>
          <a:xfrm>
            <a:off x="777240" y="562356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623560"/>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272" y="561441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561441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1764792" y="5751576"/>
            <a:ext cx="9427464" cy="347472"/>
          </a:xfrm>
          <a:prstGeom prst="rect">
            <a:avLst/>
          </a:prstGeom>
          <a:noFill/>
        </p:spPr>
        <p:txBody>
          <a:bodyPr wrap="square" anchor="ctr">
            <a:spAutoFit/>
          </a:bodyPr>
          <a:lstStyle/>
          <a:p>
            <a:pPr algn="l">
              <a:spcAft>
                <a:spcPts val="300"/>
              </a:spcAft>
            </a:pPr>
            <a:r>
              <a:rPr sz="1450" b="1">
                <a:solidFill>
                  <a:srgbClr val="161B26"/>
                </a:solidFill>
                <a:latin typeface="Arial"/>
              </a:rPr>
              <a:t>Guardrails and alignment</a:t>
            </a:r>
          </a:p>
          <a:p>
            <a:pPr algn="l">
              <a:spcAft>
                <a:spcPts val="300"/>
              </a:spcAft>
            </a:pPr>
            <a:r>
              <a:rPr sz="1050" b="0">
                <a:solidFill>
                  <a:srgbClr val="5B6372"/>
                </a:solidFill>
                <a:latin typeface="Arial"/>
              </a:rPr>
              <a:t>Shipped input, output and human-oversight controls that survive a red-team re-test. (LO3)</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NEXT STEPS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Keep Building After Today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Re-deploy from scratch</a:t>
            </a:r>
          </a:p>
          <a:p>
            <a:pPr algn="l">
              <a:spcAft>
                <a:spcPts val="300"/>
              </a:spcAft>
            </a:pPr>
            <a:r>
              <a:rPr sz="1100" b="0">
                <a:solidFill>
                  <a:srgbClr val="5B6372"/>
                </a:solidFill>
                <a:latin typeface="Arial"/>
              </a:rPr>
              <a:t>Rebuild Activity 20 from an empty folder — that is when it truly becomes yours.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Bring your own data</a:t>
            </a:r>
          </a:p>
          <a:p>
            <a:pPr algn="l">
              <a:spcAft>
                <a:spcPts val="300"/>
              </a:spcAft>
            </a:pPr>
            <a:r>
              <a:rPr sz="1100" b="0">
                <a:solidFill>
                  <a:srgbClr val="5B6372"/>
                </a:solidFill>
                <a:latin typeface="Arial"/>
              </a:rPr>
              <a:t>Swap the invoice PDFs for your organisation's documents and re-tune retrieval.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Add a framework</a:t>
            </a:r>
          </a:p>
          <a:p>
            <a:pPr algn="l">
              <a:spcAft>
                <a:spcPts val="300"/>
              </a:spcAft>
            </a:pPr>
            <a:r>
              <a:rPr sz="1100" b="0">
                <a:solidFill>
                  <a:srgbClr val="5B6372"/>
                </a:solidFill>
                <a:latin typeface="Arial"/>
              </a:rPr>
              <a:t>Port your trip planner to CrewAI or AutoGen and compare what changes.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Red-team monthly</a:t>
            </a:r>
          </a:p>
          <a:p>
            <a:pPr algn="l">
              <a:spcAft>
                <a:spcPts val="300"/>
              </a:spcAft>
            </a:pPr>
            <a:r>
              <a:rPr sz="1100" b="0">
                <a:solidFill>
                  <a:srgbClr val="5B6372"/>
                </a:solidFill>
                <a:latin typeface="Arial"/>
              </a:rPr>
              <a:t>Attacks evolve; re-run and extend your red-team log on a schedule.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Track the SDKs</a:t>
            </a:r>
          </a:p>
          <a:p>
            <a:pPr algn="l">
              <a:spcAft>
                <a:spcPts val="300"/>
              </a:spcAft>
            </a:pPr>
            <a:r>
              <a:rPr sz="1100" b="0">
                <a:solidFill>
                  <a:srgbClr val="5B6372"/>
                </a:solidFill>
                <a:latin typeface="Arial"/>
              </a:rPr>
              <a:t>These libraries move fast — follow the release notes for the ones you deploy.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Watch your spend</a:t>
            </a:r>
          </a:p>
          <a:p>
            <a:pPr algn="l">
              <a:spcAft>
                <a:spcPts val="300"/>
              </a:spcAft>
            </a:pPr>
            <a:r>
              <a:rPr sz="1100" b="0">
                <a:solidFill>
                  <a:srgbClr val="5B6372"/>
                </a:solidFill>
                <a:latin typeface="Arial"/>
              </a:rPr>
              <a:t>Every public agent needs a cache, a session cap and a hard provider spend limit.</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CONTINUE THE AI JOURNEY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Recommended Follow-On Courses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1115568"/>
          </a:xfrm>
          <a:prstGeom prst="rect">
            <a:avLst/>
          </a:prstGeom>
          <a:noFill/>
        </p:spPr>
        <p:txBody>
          <a:bodyPr wrap="square" anchor="ctr">
            <a:spAutoFit/>
          </a:bodyPr>
          <a:lstStyle/>
          <a:p>
            <a:pPr algn="l">
              <a:spcAft>
                <a:spcPts val="300"/>
              </a:spcAft>
            </a:pPr>
            <a:r>
              <a:rPr sz="1500" b="1">
                <a:solidFill>
                  <a:srgbClr val="161B26"/>
                </a:solidFill>
                <a:latin typeface="Arial"/>
              </a:rPr>
              <a:t>Build RAG and AI Agents with LangChain and LangGraph</a:t>
            </a:r>
          </a:p>
          <a:p>
            <a:pPr algn="l">
              <a:spcAft>
                <a:spcPts val="300"/>
              </a:spcAft>
            </a:pPr>
            <a:r>
              <a:rPr sz="1100" b="0">
                <a:solidFill>
                  <a:srgbClr val="5B6372"/>
                </a:solidFill>
                <a:latin typeface="Arial"/>
              </a:rPr>
              <a:t>WSQ funded · Tertiary Infotech Academy</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447288"/>
            <a:ext cx="9427464" cy="1115568"/>
          </a:xfrm>
          <a:prstGeom prst="rect">
            <a:avLst/>
          </a:prstGeom>
          <a:noFill/>
        </p:spPr>
        <p:txBody>
          <a:bodyPr wrap="square" anchor="ctr">
            <a:spAutoFit/>
          </a:bodyPr>
          <a:lstStyle/>
          <a:p>
            <a:pPr algn="l">
              <a:spcAft>
                <a:spcPts val="300"/>
              </a:spcAft>
            </a:pPr>
            <a:r>
              <a:rPr sz="1500" b="1">
                <a:solidFill>
                  <a:srgbClr val="161B26"/>
                </a:solidFill>
                <a:latin typeface="Arial"/>
              </a:rPr>
              <a:t>Generative AI Application Development with Python</a:t>
            </a:r>
          </a:p>
          <a:p>
            <a:pPr algn="l">
              <a:spcAft>
                <a:spcPts val="300"/>
              </a:spcAft>
            </a:pPr>
            <a:r>
              <a:rPr sz="1100" b="0">
                <a:solidFill>
                  <a:srgbClr val="5B6372"/>
                </a:solidFill>
                <a:latin typeface="Arial"/>
              </a:rPr>
              <a:t>WSQ funded · Tertiary Infotech Academy</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983480"/>
            <a:ext cx="9427464" cy="1115568"/>
          </a:xfrm>
          <a:prstGeom prst="rect">
            <a:avLst/>
          </a:prstGeom>
          <a:noFill/>
        </p:spPr>
        <p:txBody>
          <a:bodyPr wrap="square" anchor="ctr">
            <a:spAutoFit/>
          </a:bodyPr>
          <a:lstStyle/>
          <a:p>
            <a:pPr algn="l">
              <a:spcAft>
                <a:spcPts val="300"/>
              </a:spcAft>
            </a:pPr>
            <a:r>
              <a:rPr sz="1500" b="1">
                <a:solidFill>
                  <a:srgbClr val="161B26"/>
                </a:solidFill>
                <a:latin typeface="Arial"/>
              </a:rPr>
              <a:t>Prompt Engineering for Generative AI</a:t>
            </a:r>
          </a:p>
          <a:p>
            <a:pPr algn="l">
              <a:spcAft>
                <a:spcPts val="300"/>
              </a:spcAft>
            </a:pPr>
            <a:r>
              <a:rPr sz="1100" b="0">
                <a:solidFill>
                  <a:srgbClr val="5B6372"/>
                </a:solidFill>
                <a:latin typeface="Arial"/>
              </a:rPr>
              <a:t>WSQ funded · Tertiary Infotech Academy</a:t>
            </a:r>
          </a:p>
        </p:txBody>
      </p:sp>
      <p:sp>
        <p:nvSpPr>
          <p:cNvPr id="22" name="TextBox 21"/>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3" name="TextBox 22"/>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WE'RE HERE TO HELP — DURING AND AFTER THE CLASS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Email</a:t>
            </a:r>
          </a:p>
          <a:p>
            <a:pPr algn="l">
              <a:spcAft>
                <a:spcPts val="300"/>
              </a:spcAft>
            </a:pPr>
            <a:r>
              <a:rPr sz="1300" b="0">
                <a:solidFill>
                  <a:srgbClr val="5B6372"/>
                </a:solidFill>
                <a:latin typeface="Arial"/>
              </a:rPr>
              <a:t>enquiry@tertiaryinfotech.com</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Telephone</a:t>
            </a:r>
          </a:p>
          <a:p>
            <a:pPr algn="l">
              <a:spcAft>
                <a:spcPts val="300"/>
              </a:spcAft>
            </a:pPr>
            <a:r>
              <a:rPr sz="1300" b="0">
                <a:solidFill>
                  <a:srgbClr val="5B6372"/>
                </a:solidFill>
                <a:latin typeface="Arial"/>
              </a:rPr>
              <a:t>+65 6100 0613</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Website</a:t>
            </a:r>
          </a:p>
          <a:p>
            <a:pPr algn="l">
              <a:spcAft>
                <a:spcPts val="300"/>
              </a:spcAft>
            </a:pPr>
            <a:r>
              <a:rPr sz="1300" b="0">
                <a:solidFill>
                  <a:srgbClr val="5B6372"/>
                </a:solidFill>
                <a:latin typeface="Arial"/>
              </a:rPr>
              <a:t>www.tertiarycourses.com.sg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Course portal</a:t>
            </a:r>
          </a:p>
          <a:p>
            <a:pPr algn="l">
              <a:spcAft>
                <a:spcPts val="300"/>
              </a:spcAft>
            </a:pPr>
            <a:r>
              <a:rPr sz="1300" b="0">
                <a:solidFill>
                  <a:srgbClr val="5B6372"/>
                </a:solidFill>
                <a:latin typeface="Arial"/>
              </a:rPr>
              <a:t>https://lms-tms.tertiaryinfotech.com</a:t>
            </a:r>
          </a:p>
        </p:txBody>
      </p:sp>
      <p:sp>
        <p:nvSpPr>
          <p:cNvPr id="27" name="TextBox 2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8" name="TextBox 2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WA — Written</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Short-Answer Questions (SAQ)</a:t>
            </a:r>
          </a:p>
          <a:p>
            <a:pPr>
              <a:spcAft>
                <a:spcPts val="900"/>
              </a:spcAft>
            </a:pPr>
            <a:r>
              <a:rPr sz="1400" b="0">
                <a:solidFill>
                  <a:srgbClr val="161B26"/>
                </a:solidFill>
                <a:latin typeface="Arial"/>
              </a:rPr>
              <a:t>•  1 hour · open book</a:t>
            </a:r>
          </a:p>
          <a:p>
            <a:pPr>
              <a:spcAft>
                <a:spcPts val="900"/>
              </a:spcAft>
            </a:pPr>
            <a:r>
              <a:rPr sz="1400" b="0">
                <a:solidFill>
                  <a:srgbClr val="161B26"/>
                </a:solidFill>
                <a:latin typeface="Arial"/>
              </a:rPr>
              <a:t>•  Knowledge across LU1, LU2 and LU3</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PP — Practical</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Practical Performance tasks</a:t>
            </a:r>
          </a:p>
          <a:p>
            <a:pPr>
              <a:spcAft>
                <a:spcPts val="900"/>
              </a:spcAft>
            </a:pPr>
            <a:r>
              <a:rPr sz="1400" b="0">
                <a:solidFill>
                  <a:srgbClr val="161B26"/>
                </a:solidFill>
                <a:latin typeface="Arial"/>
              </a:rPr>
              <a:t>•  1 hour · open book</a:t>
            </a:r>
          </a:p>
          <a:p>
            <a:pPr>
              <a:spcAft>
                <a:spcPts val="900"/>
              </a:spcAft>
            </a:pPr>
            <a:r>
              <a:rPr sz="1400" b="0">
                <a:solidFill>
                  <a:srgbClr val="161B26"/>
                </a:solidFill>
                <a:latin typeface="Arial"/>
              </a:rPr>
              <a:t>•  Build / deploy / safeguard, from the activities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Before you start</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Take the Assessment digital attendance (TRAQOM)</a:t>
            </a:r>
          </a:p>
          <a:p>
            <a:pPr>
              <a:spcAft>
                <a:spcPts val="900"/>
              </a:spcAft>
            </a:pPr>
            <a:r>
              <a:rPr sz="1400" b="0">
                <a:solidFill>
                  <a:srgbClr val="161B26"/>
                </a:solidFill>
                <a:latin typeface="Arial"/>
              </a:rPr>
              <a:t>•  Submit your answers on the LMS</a:t>
            </a:r>
          </a:p>
          <a:p>
            <a:pPr>
              <a:spcAft>
                <a:spcPts val="900"/>
              </a:spcAft>
            </a:pPr>
            <a:r>
              <a:rPr sz="1400" b="0">
                <a:solidFill>
                  <a:srgbClr val="161B26"/>
                </a:solidFill>
                <a:latin typeface="Arial"/>
              </a:rPr>
              <a:t>•  https://lms-tms.tertiaryinfotech.com/</a:t>
            </a:r>
          </a:p>
        </p:txBody>
      </p:sp>
      <p:sp>
        <p:nvSpPr>
          <p:cNvPr id="19" name="TextBox 18"/>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20" name="TextBox 19"/>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TRAQOM survey — scan the QR code on the LMS</a:t>
            </a:r>
          </a:p>
        </p:txBody>
      </p:sp>
      <p:sp>
        <p:nvSpPr>
          <p:cNvPr id="12" name="TextBox 11"/>
          <p:cNvSpPr txBox="1"/>
          <p:nvPr/>
        </p:nvSpPr>
        <p:spPr>
          <a:xfrm>
            <a:off x="2618841"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Assessment digital attendance — scan the SSG QR</a:t>
            </a:r>
          </a:p>
        </p:txBody>
      </p:sp>
      <p:sp>
        <p:nvSpPr>
          <p:cNvPr id="18" name="TextBox 17"/>
          <p:cNvSpPr txBox="1"/>
          <p:nvPr/>
        </p:nvSpPr>
        <p:spPr>
          <a:xfrm>
            <a:off x="4807914"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Sit WA (SAQ) 1 h, then PP 1 h — open book</a:t>
            </a:r>
          </a:p>
        </p:txBody>
      </p:sp>
      <p:sp>
        <p:nvSpPr>
          <p:cNvPr id="24" name="TextBox 23"/>
          <p:cNvSpPr txBox="1"/>
          <p:nvPr/>
        </p:nvSpPr>
        <p:spPr>
          <a:xfrm>
            <a:off x="6996987"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Submit your answers on the LMS</a:t>
            </a:r>
          </a:p>
        </p:txBody>
      </p:sp>
      <p:sp>
        <p:nvSpPr>
          <p:cNvPr id="30" name="TextBox 29"/>
          <p:cNvSpPr txBox="1"/>
          <p:nvPr/>
        </p:nvSpPr>
        <p:spPr>
          <a:xfrm>
            <a:off x="9186060"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Sign the Assessment Summary Record</a:t>
            </a:r>
          </a:p>
        </p:txBody>
      </p:sp>
      <p:sp>
        <p:nvSpPr>
          <p:cNvPr id="36" name="TextBox 35"/>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7" name="TextBox 36"/>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8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Trainer displays the SSG digital attendance QR code</a:t>
            </a:r>
          </a:p>
        </p:txBody>
      </p:sp>
      <p:sp>
        <p:nvSpPr>
          <p:cNvPr id="12" name="TextBox 11"/>
          <p:cNvSpPr txBox="1"/>
          <p:nvPr/>
        </p:nvSpPr>
        <p:spPr>
          <a:xfrm>
            <a:off x="2618841"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Scan it with your mobile phone camera</a:t>
            </a:r>
          </a:p>
        </p:txBody>
      </p:sp>
      <p:sp>
        <p:nvSpPr>
          <p:cNvPr id="18" name="TextBox 17"/>
          <p:cNvSpPr txBox="1"/>
          <p:nvPr/>
        </p:nvSpPr>
        <p:spPr>
          <a:xfrm>
            <a:off x="4807914"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Submit your attendance — AM, PM and Assessment</a:t>
            </a:r>
          </a:p>
        </p:txBody>
      </p:sp>
      <p:sp>
        <p:nvSpPr>
          <p:cNvPr id="24" name="TextBox 23"/>
          <p:cNvSpPr txBox="1"/>
          <p:nvPr/>
        </p:nvSpPr>
        <p:spPr>
          <a:xfrm>
            <a:off x="6996987"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Repeat every session, every day</a:t>
            </a:r>
          </a:p>
        </p:txBody>
      </p:sp>
      <p:sp>
        <p:nvSpPr>
          <p:cNvPr id="30" name="TextBox 29"/>
          <p:cNvSpPr txBox="1"/>
          <p:nvPr/>
        </p:nvSpPr>
        <p:spPr>
          <a:xfrm>
            <a:off x="9186060" y="340614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24028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62432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657600"/>
            <a:ext cx="1585569" cy="1325880"/>
          </a:xfrm>
          <a:prstGeom prst="rect">
            <a:avLst/>
          </a:prstGeom>
          <a:noFill/>
        </p:spPr>
        <p:txBody>
          <a:bodyPr wrap="square" anchor="t">
            <a:spAutoFit/>
          </a:bodyPr>
          <a:lstStyle/>
          <a:p>
            <a:pPr algn="ctr">
              <a:spcAft>
                <a:spcPts val="400"/>
              </a:spcAft>
            </a:pPr>
            <a:r>
              <a:rPr sz="1300" b="0">
                <a:solidFill>
                  <a:srgbClr val="161B26"/>
                </a:solidFill>
                <a:latin typeface="Arial"/>
              </a:rPr>
              <a:t>75% attendance minimum for assessment and funding</a:t>
            </a:r>
          </a:p>
        </p:txBody>
      </p:sp>
      <p:sp>
        <p:nvSpPr>
          <p:cNvPr id="36" name="TextBox 35"/>
          <p:cNvSpPr txBox="1"/>
          <p:nvPr/>
        </p:nvSpPr>
        <p:spPr>
          <a:xfrm>
            <a:off x="777240" y="5440680"/>
            <a:ext cx="10698480" cy="640080"/>
          </a:xfrm>
          <a:prstGeom prst="rect">
            <a:avLst/>
          </a:prstGeom>
          <a:noFill/>
        </p:spPr>
        <p:txBody>
          <a:bodyPr wrap="square" anchor="t">
            <a:spAutoFit/>
          </a:bodyPr>
          <a:lstStyle/>
          <a:p>
            <a:pPr algn="ctr">
              <a:spcAft>
                <a:spcPts val="400"/>
              </a:spcAft>
            </a:pPr>
            <a:r>
              <a:rPr sz="1400" b="0">
                <a:solidFill>
                  <a:srgbClr val="5B6372"/>
                </a:solidFill>
                <a:latin typeface="Arial"/>
              </a:rPr>
              <a:t>Digital attendance is mandatory for WSQ-funded courses — missing a scan puts your funding at risk.</a:t>
            </a:r>
          </a:p>
        </p:txBody>
      </p:sp>
      <p:sp>
        <p:nvSpPr>
          <p:cNvPr id="37" name="TextBox 3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38" name="TextBox 3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HAPPY BUILDING</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can now design, build, deploy and safeguard Agentic AI applications — go and ship one.</a:t>
            </a:r>
          </a:p>
        </p:txBody>
      </p:sp>
      <p:sp>
        <p:nvSpPr>
          <p:cNvPr id="7" name="TextBox 6"/>
          <p:cNvSpPr txBox="1"/>
          <p:nvPr/>
        </p:nvSpPr>
        <p:spPr>
          <a:xfrm>
            <a:off x="365760" y="6446520"/>
            <a:ext cx="4023360" cy="320040"/>
          </a:xfrm>
          <a:prstGeom prst="rect">
            <a:avLst/>
          </a:prstGeom>
          <a:noFill/>
        </p:spPr>
        <p:txBody>
          <a:bodyPr wrap="square" anchor="t">
            <a:spAutoFit/>
          </a:bodyPr>
          <a:lstStyle/>
          <a:p>
            <a:pPr algn="l">
              <a:spcAft>
                <a:spcPts val="400"/>
              </a:spcAft>
            </a:pPr>
            <a:r>
              <a:rPr sz="900" b="0">
                <a:solidFill>
                  <a:srgbClr val="5B6372"/>
                </a:solidFill>
                <a:latin typeface="Arial"/>
              </a:rPr>
              <a:t>Build and Deploy Agentic AI Apps  ·  TGS-2025059028</a:t>
            </a:r>
          </a:p>
        </p:txBody>
      </p:sp>
      <p:sp>
        <p:nvSpPr>
          <p:cNvPr id="8" name="TextBox 7"/>
          <p:cNvSpPr txBox="1"/>
          <p:nvPr/>
        </p:nvSpPr>
        <p:spPr>
          <a:xfrm>
            <a:off x="4480560" y="6446520"/>
            <a:ext cx="320040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